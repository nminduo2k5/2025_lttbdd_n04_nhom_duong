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Lst>
  <p:sldSz cx="18288000" cy="10287000"/>
  <p:notesSz cx="6858000" cy="9144000"/>
  <p:embeddedFontLst>
    <p:embeddedFont>
      <p:font typeface="Proxima Nova Bold" charset="1" panose="02000506030000020004"/>
      <p:regular r:id="rId19"/>
    </p:embeddedFont>
    <p:embeddedFont>
      <p:font typeface="Proxima Nova" charset="1" panose="02000506030000020004"/>
      <p:regular r:id="rId20"/>
    </p:embeddedFont>
    <p:embeddedFont>
      <p:font typeface="Poppins Bold" charset="1" panose="00000800000000000000"/>
      <p:regular r:id="rId21"/>
    </p:embeddedFont>
    <p:embeddedFont>
      <p:font typeface="Times New Roman" charset="1" panose="02020603050405020304"/>
      <p:regular r:id="rId2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22" Target="fonts/font22.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7.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 Id="rId3" Target="../media/image9.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 Id="rId3" Target="../media/image11.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png" Type="http://schemas.openxmlformats.org/officeDocument/2006/relationships/image"/><Relationship Id="rId3" Target="../media/image13.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14.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1E2A38"/>
        </a:solidFill>
      </p:bgPr>
    </p:bg>
    <p:spTree>
      <p:nvGrpSpPr>
        <p:cNvPr id="1" name=""/>
        <p:cNvGrpSpPr/>
        <p:nvPr/>
      </p:nvGrpSpPr>
      <p:grpSpPr>
        <a:xfrm>
          <a:off x="0" y="0"/>
          <a:ext cx="0" cy="0"/>
          <a:chOff x="0" y="0"/>
          <a:chExt cx="0" cy="0"/>
        </a:xfrm>
      </p:grpSpPr>
      <p:grpSp>
        <p:nvGrpSpPr>
          <p:cNvPr name="Group 2" id="2"/>
          <p:cNvGrpSpPr/>
          <p:nvPr/>
        </p:nvGrpSpPr>
        <p:grpSpPr>
          <a:xfrm rot="0">
            <a:off x="9144000" y="-12700"/>
            <a:ext cx="9144000" cy="10299700"/>
            <a:chOff x="0" y="0"/>
            <a:chExt cx="786406" cy="885799"/>
          </a:xfrm>
        </p:grpSpPr>
        <p:sp>
          <p:nvSpPr>
            <p:cNvPr name="Freeform 3" id="3"/>
            <p:cNvSpPr/>
            <p:nvPr/>
          </p:nvSpPr>
          <p:spPr>
            <a:xfrm flipH="false" flipV="false" rot="0">
              <a:off x="0" y="0"/>
              <a:ext cx="786406" cy="885799"/>
            </a:xfrm>
            <a:custGeom>
              <a:avLst/>
              <a:gdLst/>
              <a:ahLst/>
              <a:cxnLst/>
              <a:rect r="r" b="b" t="t" l="l"/>
              <a:pathLst>
                <a:path h="885799" w="786406">
                  <a:moveTo>
                    <a:pt x="0" y="0"/>
                  </a:moveTo>
                  <a:lnTo>
                    <a:pt x="786406" y="0"/>
                  </a:lnTo>
                  <a:lnTo>
                    <a:pt x="786406" y="885799"/>
                  </a:lnTo>
                  <a:lnTo>
                    <a:pt x="0" y="885799"/>
                  </a:lnTo>
                  <a:close/>
                </a:path>
              </a:pathLst>
            </a:custGeom>
            <a:blipFill>
              <a:blip r:embed="rId2"/>
              <a:stretch>
                <a:fillRect l="0" t="-157" r="0" b="-157"/>
              </a:stretch>
            </a:blipFill>
          </p:spPr>
        </p:sp>
      </p:grpSp>
      <p:grpSp>
        <p:nvGrpSpPr>
          <p:cNvPr name="Group 4" id="4"/>
          <p:cNvGrpSpPr/>
          <p:nvPr/>
        </p:nvGrpSpPr>
        <p:grpSpPr>
          <a:xfrm rot="0">
            <a:off x="488136" y="-1179369"/>
            <a:ext cx="6886575" cy="4198777"/>
            <a:chOff x="0" y="0"/>
            <a:chExt cx="9182100" cy="5598369"/>
          </a:xfrm>
        </p:grpSpPr>
        <p:sp>
          <p:nvSpPr>
            <p:cNvPr name="TextBox 5" id="5"/>
            <p:cNvSpPr txBox="true"/>
            <p:nvPr/>
          </p:nvSpPr>
          <p:spPr>
            <a:xfrm rot="0">
              <a:off x="0" y="-9525"/>
              <a:ext cx="9182100" cy="1630892"/>
            </a:xfrm>
            <a:prstGeom prst="rect">
              <a:avLst/>
            </a:prstGeom>
          </p:spPr>
          <p:txBody>
            <a:bodyPr anchor="t" rtlCol="false" tIns="0" lIns="0" bIns="0" rIns="0">
              <a:spAutoFit/>
            </a:bodyPr>
            <a:lstStyle/>
            <a:p>
              <a:pPr algn="l" marL="0" indent="0" lvl="0">
                <a:lnSpc>
                  <a:spcPts val="8800"/>
                </a:lnSpc>
              </a:pPr>
            </a:p>
          </p:txBody>
        </p:sp>
        <p:sp>
          <p:nvSpPr>
            <p:cNvPr name="TextBox 6" id="6"/>
            <p:cNvSpPr txBox="true"/>
            <p:nvPr/>
          </p:nvSpPr>
          <p:spPr>
            <a:xfrm rot="0">
              <a:off x="0" y="2119627"/>
              <a:ext cx="9182100" cy="3478742"/>
            </a:xfrm>
            <a:prstGeom prst="rect">
              <a:avLst/>
            </a:prstGeom>
          </p:spPr>
          <p:txBody>
            <a:bodyPr anchor="t" rtlCol="false" tIns="0" lIns="0" bIns="0" rIns="0">
              <a:spAutoFit/>
            </a:bodyPr>
            <a:lstStyle/>
            <a:p>
              <a:pPr algn="l" marL="0" indent="0" lvl="0">
                <a:lnSpc>
                  <a:spcPts val="7000"/>
                </a:lnSpc>
                <a:spcBef>
                  <a:spcPct val="0"/>
                </a:spcBef>
              </a:pPr>
              <a:r>
                <a:rPr lang="en-US" b="true" sz="5000">
                  <a:solidFill>
                    <a:srgbClr val="E0E6EF"/>
                  </a:solidFill>
                  <a:latin typeface="Proxima Nova Bold"/>
                  <a:ea typeface="Proxima Nova Bold"/>
                  <a:cs typeface="Proxima Nova Bold"/>
                  <a:sym typeface="Proxima Nova Bold"/>
                </a:rPr>
                <a:t>SmartWallet- Ứng dụng ví điện tử thông minh</a:t>
              </a:r>
            </a:p>
            <a:p>
              <a:pPr algn="l" marL="0" indent="0" lvl="0">
                <a:lnSpc>
                  <a:spcPts val="7000"/>
                </a:lnSpc>
                <a:spcBef>
                  <a:spcPct val="0"/>
                </a:spcBef>
              </a:pPr>
            </a:p>
          </p:txBody>
        </p:sp>
      </p:grpSp>
      <p:sp>
        <p:nvSpPr>
          <p:cNvPr name="TextBox 7" id="7"/>
          <p:cNvSpPr txBox="true"/>
          <p:nvPr/>
        </p:nvSpPr>
        <p:spPr>
          <a:xfrm rot="0">
            <a:off x="488136" y="8013805"/>
            <a:ext cx="6871540" cy="570865"/>
          </a:xfrm>
          <a:prstGeom prst="rect">
            <a:avLst/>
          </a:prstGeom>
        </p:spPr>
        <p:txBody>
          <a:bodyPr anchor="t" rtlCol="false" tIns="0" lIns="0" bIns="0" rIns="0">
            <a:spAutoFit/>
          </a:bodyPr>
          <a:lstStyle/>
          <a:p>
            <a:pPr algn="l" marL="0" indent="0" lvl="0">
              <a:lnSpc>
                <a:spcPts val="4759"/>
              </a:lnSpc>
              <a:spcBef>
                <a:spcPct val="0"/>
              </a:spcBef>
            </a:pPr>
            <a:r>
              <a:rPr lang="en-US" sz="3399">
                <a:solidFill>
                  <a:srgbClr val="E0E6EF"/>
                </a:solidFill>
                <a:latin typeface="Proxima Nova"/>
                <a:ea typeface="Proxima Nova"/>
                <a:cs typeface="Proxima Nova"/>
                <a:sym typeface="Proxima Nova"/>
              </a:rPr>
              <a:t>Hướng dẫn: </a:t>
            </a:r>
            <a:r>
              <a:rPr lang="en-US" sz="3399">
                <a:solidFill>
                  <a:srgbClr val="E0E6EF"/>
                </a:solidFill>
                <a:latin typeface="Proxima Nova"/>
                <a:ea typeface="Proxima Nova"/>
                <a:cs typeface="Proxima Nova"/>
                <a:sym typeface="Proxima Nova"/>
              </a:rPr>
              <a:t>ThS. Nguyễn Xuân Quế</a:t>
            </a:r>
          </a:p>
        </p:txBody>
      </p:sp>
      <p:sp>
        <p:nvSpPr>
          <p:cNvPr name="TextBox 8" id="8"/>
          <p:cNvSpPr txBox="true"/>
          <p:nvPr/>
        </p:nvSpPr>
        <p:spPr>
          <a:xfrm rot="0">
            <a:off x="0" y="3210213"/>
            <a:ext cx="6871540" cy="570865"/>
          </a:xfrm>
          <a:prstGeom prst="rect">
            <a:avLst/>
          </a:prstGeom>
        </p:spPr>
        <p:txBody>
          <a:bodyPr anchor="t" rtlCol="false" tIns="0" lIns="0" bIns="0" rIns="0">
            <a:spAutoFit/>
          </a:bodyPr>
          <a:lstStyle/>
          <a:p>
            <a:pPr algn="ctr">
              <a:lnSpc>
                <a:spcPts val="4759"/>
              </a:lnSpc>
            </a:pPr>
            <a:r>
              <a:rPr lang="en-US" sz="3399">
                <a:solidFill>
                  <a:srgbClr val="E0E6EF"/>
                </a:solidFill>
                <a:latin typeface="Proxima Nova"/>
                <a:ea typeface="Proxima Nova"/>
                <a:cs typeface="Proxima Nova"/>
                <a:sym typeface="Proxima Nova"/>
              </a:rPr>
              <a:t>Nguyễn Minh Dương -23010441</a:t>
            </a:r>
          </a:p>
        </p:txBody>
      </p:sp>
      <p:sp>
        <p:nvSpPr>
          <p:cNvPr name="TextBox 9" id="9"/>
          <p:cNvSpPr txBox="true"/>
          <p:nvPr/>
        </p:nvSpPr>
        <p:spPr>
          <a:xfrm rot="0">
            <a:off x="488136" y="4123516"/>
            <a:ext cx="7619851" cy="1170940"/>
          </a:xfrm>
          <a:prstGeom prst="rect">
            <a:avLst/>
          </a:prstGeom>
        </p:spPr>
        <p:txBody>
          <a:bodyPr anchor="t" rtlCol="false" tIns="0" lIns="0" bIns="0" rIns="0">
            <a:spAutoFit/>
          </a:bodyPr>
          <a:lstStyle/>
          <a:p>
            <a:pPr algn="ctr">
              <a:lnSpc>
                <a:spcPts val="4759"/>
              </a:lnSpc>
            </a:pPr>
            <a:r>
              <a:rPr lang="en-US" sz="3399">
                <a:solidFill>
                  <a:srgbClr val="E0E6EF"/>
                </a:solidFill>
                <a:latin typeface="Proxima Nova"/>
                <a:ea typeface="Proxima Nova"/>
                <a:cs typeface="Proxima Nova"/>
                <a:sym typeface="Proxima Nova"/>
              </a:rPr>
              <a:t>Lập</a:t>
            </a:r>
            <a:r>
              <a:rPr lang="en-US" sz="3399">
                <a:solidFill>
                  <a:srgbClr val="E0E6EF"/>
                </a:solidFill>
                <a:latin typeface="Proxima Nova"/>
                <a:ea typeface="Proxima Nova"/>
                <a:cs typeface="Proxima Nova"/>
                <a:sym typeface="Proxima Nova"/>
              </a:rPr>
              <a:t> trình cho thiết bị di động-1-1-25(N04)</a:t>
            </a:r>
          </a:p>
          <a:p>
            <a:pPr algn="ctr">
              <a:lnSpc>
                <a:spcPts val="4759"/>
              </a:lnSpc>
            </a:pPr>
          </a:p>
        </p:txBody>
      </p:sp>
      <p:sp>
        <p:nvSpPr>
          <p:cNvPr name="TextBox 10" id="10"/>
          <p:cNvSpPr txBox="true"/>
          <p:nvPr/>
        </p:nvSpPr>
        <p:spPr>
          <a:xfrm rot="0">
            <a:off x="0" y="5080000"/>
            <a:ext cx="8886954" cy="1170940"/>
          </a:xfrm>
          <a:prstGeom prst="rect">
            <a:avLst/>
          </a:prstGeom>
        </p:spPr>
        <p:txBody>
          <a:bodyPr anchor="t" rtlCol="false" tIns="0" lIns="0" bIns="0" rIns="0">
            <a:spAutoFit/>
          </a:bodyPr>
          <a:lstStyle/>
          <a:p>
            <a:pPr algn="ctr">
              <a:lnSpc>
                <a:spcPts val="4759"/>
              </a:lnSpc>
            </a:pPr>
            <a:r>
              <a:rPr lang="en-US" sz="3399">
                <a:solidFill>
                  <a:srgbClr val="E0E6EF"/>
                </a:solidFill>
                <a:latin typeface="Proxima Nova"/>
                <a:ea typeface="Proxima Nova"/>
                <a:cs typeface="Proxima Nova"/>
                <a:sym typeface="Proxima Nova"/>
              </a:rPr>
              <a:t>Nhóm: 2025_L</a:t>
            </a:r>
            <a:r>
              <a:rPr lang="en-US" sz="3399">
                <a:solidFill>
                  <a:srgbClr val="E0E6EF"/>
                </a:solidFill>
                <a:latin typeface="Proxima Nova"/>
                <a:ea typeface="Proxima Nova"/>
                <a:cs typeface="Proxima Nova"/>
                <a:sym typeface="Proxima Nova"/>
              </a:rPr>
              <a:t>TTBDD_N04_Nhom_Duong</a:t>
            </a:r>
          </a:p>
          <a:p>
            <a:pPr algn="ctr">
              <a:lnSpc>
                <a:spcPts val="4759"/>
              </a:lnSpc>
            </a:pPr>
          </a:p>
        </p:txBody>
      </p:sp>
    </p:spTree>
  </p:cSld>
  <p:clrMapOvr>
    <a:masterClrMapping/>
  </p:clrMapOvr>
</p:sld>
</file>

<file path=ppt/slides/slide2.xml><?xml version="1.0" encoding="utf-8"?>
<p:sld xmlns:p="http://schemas.openxmlformats.org/presentationml/2006/main" xmlns:a="http://schemas.openxmlformats.org/drawingml/2006/main">
  <p:cSld>
    <p:bg>
      <p:bgPr>
        <a:solidFill>
          <a:srgbClr val="27465A"/>
        </a:solidFill>
      </p:bgPr>
    </p:bg>
    <p:spTree>
      <p:nvGrpSpPr>
        <p:cNvPr id="1" name=""/>
        <p:cNvGrpSpPr/>
        <p:nvPr/>
      </p:nvGrpSpPr>
      <p:grpSpPr>
        <a:xfrm>
          <a:off x="0" y="0"/>
          <a:ext cx="0" cy="0"/>
          <a:chOff x="0" y="0"/>
          <a:chExt cx="0" cy="0"/>
        </a:xfrm>
      </p:grpSpPr>
      <p:sp>
        <p:nvSpPr>
          <p:cNvPr name="TextBox 2" id="2"/>
          <p:cNvSpPr txBox="true"/>
          <p:nvPr/>
        </p:nvSpPr>
        <p:spPr>
          <a:xfrm rot="0">
            <a:off x="666750" y="657225"/>
            <a:ext cx="8324850" cy="2339975"/>
          </a:xfrm>
          <a:prstGeom prst="rect">
            <a:avLst/>
          </a:prstGeom>
        </p:spPr>
        <p:txBody>
          <a:bodyPr anchor="t" rtlCol="false" tIns="0" lIns="0" bIns="0" rIns="0">
            <a:spAutoFit/>
          </a:bodyPr>
          <a:lstStyle/>
          <a:p>
            <a:pPr algn="l" marL="0" indent="0" lvl="0">
              <a:lnSpc>
                <a:spcPts val="8800"/>
              </a:lnSpc>
            </a:pPr>
            <a:r>
              <a:rPr lang="en-US" b="true" sz="8000">
                <a:solidFill>
                  <a:srgbClr val="E0E6EF"/>
                </a:solidFill>
                <a:latin typeface="Poppins Bold"/>
                <a:ea typeface="Poppins Bold"/>
                <a:cs typeface="Poppins Bold"/>
                <a:sym typeface="Poppins Bold"/>
              </a:rPr>
              <a:t>Giới thiệu về SmartWallet</a:t>
            </a:r>
          </a:p>
        </p:txBody>
      </p:sp>
      <p:grpSp>
        <p:nvGrpSpPr>
          <p:cNvPr name="Group 3" id="3"/>
          <p:cNvGrpSpPr/>
          <p:nvPr/>
        </p:nvGrpSpPr>
        <p:grpSpPr>
          <a:xfrm rot="0">
            <a:off x="9144000" y="7324732"/>
            <a:ext cx="6886575" cy="2401846"/>
            <a:chOff x="0" y="0"/>
            <a:chExt cx="9182100" cy="3202461"/>
          </a:xfrm>
        </p:grpSpPr>
        <p:sp>
          <p:nvSpPr>
            <p:cNvPr name="TextBox 4" id="4"/>
            <p:cNvSpPr txBox="true"/>
            <p:nvPr/>
          </p:nvSpPr>
          <p:spPr>
            <a:xfrm rot="0">
              <a:off x="0" y="1010441"/>
              <a:ext cx="9182100" cy="2192020"/>
            </a:xfrm>
            <a:prstGeom prst="rect">
              <a:avLst/>
            </a:prstGeom>
          </p:spPr>
          <p:txBody>
            <a:bodyPr anchor="t" rtlCol="false" tIns="0" lIns="0" bIns="0" rIns="0">
              <a:spAutoFit/>
            </a:bodyPr>
            <a:lstStyle/>
            <a:p>
              <a:pPr algn="l" marL="0" indent="0" lvl="0">
                <a:lnSpc>
                  <a:spcPts val="3359"/>
                </a:lnSpc>
                <a:spcBef>
                  <a:spcPct val="0"/>
                </a:spcBef>
              </a:pPr>
              <a:r>
                <a:rPr lang="en-US" b="true" sz="2400">
                  <a:solidFill>
                    <a:srgbClr val="E0E6EF"/>
                  </a:solidFill>
                  <a:latin typeface="Proxima Nova Bold"/>
                  <a:ea typeface="Proxima Nova Bold"/>
                  <a:cs typeface="Proxima Nova Bold"/>
                  <a:sym typeface="Proxima Nova Bold"/>
                </a:rPr>
                <a:t>SmartWallet</a:t>
              </a:r>
              <a:r>
                <a:rPr lang="en-US" sz="2400">
                  <a:solidFill>
                    <a:srgbClr val="E0E6EF"/>
                  </a:solidFill>
                  <a:latin typeface="Proxima Nova"/>
                  <a:ea typeface="Proxima Nova"/>
                  <a:cs typeface="Proxima Nova"/>
                  <a:sym typeface="Proxima Nova"/>
                </a:rPr>
                <a:t> được phát triển để đáp ứng </a:t>
              </a:r>
              <a:r>
                <a:rPr lang="en-US" b="true" sz="2400">
                  <a:solidFill>
                    <a:srgbClr val="E0E6EF"/>
                  </a:solidFill>
                  <a:latin typeface="Proxima Nova Bold"/>
                  <a:ea typeface="Proxima Nova Bold"/>
                  <a:cs typeface="Proxima Nova Bold"/>
                  <a:sym typeface="Proxima Nova Bold"/>
                </a:rPr>
                <a:t>nhu cầu quản lý tài chính cá nhân</a:t>
              </a:r>
              <a:r>
                <a:rPr lang="en-US" sz="2400">
                  <a:solidFill>
                    <a:srgbClr val="E0E6EF"/>
                  </a:solidFill>
                  <a:latin typeface="Proxima Nova"/>
                  <a:ea typeface="Proxima Nova"/>
                  <a:cs typeface="Proxima Nova"/>
                  <a:sym typeface="Proxima Nova"/>
                </a:rPr>
                <a:t> ngày càng tăng, giúp người dùng dễ dàng theo dõi chi tiêu và quản lý tài chính.</a:t>
              </a:r>
            </a:p>
          </p:txBody>
        </p:sp>
        <p:sp>
          <p:nvSpPr>
            <p:cNvPr name="TextBox 5" id="5"/>
            <p:cNvSpPr txBox="true"/>
            <p:nvPr/>
          </p:nvSpPr>
          <p:spPr>
            <a:xfrm rot="0">
              <a:off x="0" y="-66675"/>
              <a:ext cx="9182100" cy="676275"/>
            </a:xfrm>
            <a:prstGeom prst="rect">
              <a:avLst/>
            </a:prstGeom>
          </p:spPr>
          <p:txBody>
            <a:bodyPr anchor="t" rtlCol="false" tIns="0" lIns="0" bIns="0" rIns="0">
              <a:spAutoFit/>
            </a:bodyPr>
            <a:lstStyle/>
            <a:p>
              <a:pPr algn="l" marL="0" indent="0" lvl="0">
                <a:lnSpc>
                  <a:spcPts val="4200"/>
                </a:lnSpc>
                <a:spcBef>
                  <a:spcPct val="0"/>
                </a:spcBef>
              </a:pPr>
              <a:r>
                <a:rPr lang="en-US" b="true" sz="3000">
                  <a:solidFill>
                    <a:srgbClr val="E0E6EF"/>
                  </a:solidFill>
                  <a:latin typeface="Proxima Nova Bold"/>
                  <a:ea typeface="Proxima Nova Bold"/>
                  <a:cs typeface="Proxima Nova Bold"/>
                  <a:sym typeface="Proxima Nova Bold"/>
                </a:rPr>
                <a:t>Tại sao chọn ứng dụng</a:t>
              </a:r>
            </a:p>
          </p:txBody>
        </p:sp>
      </p:grpSp>
      <p:grpSp>
        <p:nvGrpSpPr>
          <p:cNvPr name="Group 6" id="6"/>
          <p:cNvGrpSpPr/>
          <p:nvPr/>
        </p:nvGrpSpPr>
        <p:grpSpPr>
          <a:xfrm rot="0">
            <a:off x="666750" y="7073146"/>
            <a:ext cx="6886575" cy="2401846"/>
            <a:chOff x="0" y="0"/>
            <a:chExt cx="9182100" cy="3202461"/>
          </a:xfrm>
        </p:grpSpPr>
        <p:sp>
          <p:nvSpPr>
            <p:cNvPr name="TextBox 7" id="7"/>
            <p:cNvSpPr txBox="true"/>
            <p:nvPr/>
          </p:nvSpPr>
          <p:spPr>
            <a:xfrm rot="0">
              <a:off x="0" y="1010441"/>
              <a:ext cx="9182100" cy="2192020"/>
            </a:xfrm>
            <a:prstGeom prst="rect">
              <a:avLst/>
            </a:prstGeom>
          </p:spPr>
          <p:txBody>
            <a:bodyPr anchor="t" rtlCol="false" tIns="0" lIns="0" bIns="0" rIns="0">
              <a:spAutoFit/>
            </a:bodyPr>
            <a:lstStyle/>
            <a:p>
              <a:pPr algn="l" marL="0" indent="0" lvl="0">
                <a:lnSpc>
                  <a:spcPts val="3359"/>
                </a:lnSpc>
                <a:spcBef>
                  <a:spcPct val="0"/>
                </a:spcBef>
              </a:pPr>
              <a:r>
                <a:rPr lang="en-US" sz="2400">
                  <a:solidFill>
                    <a:srgbClr val="E0E6EF"/>
                  </a:solidFill>
                  <a:latin typeface="Proxima Nova"/>
                  <a:ea typeface="Proxima Nova"/>
                  <a:cs typeface="Proxima Nova"/>
                  <a:sym typeface="Proxima Nova"/>
                </a:rPr>
                <a:t>Quản lý tài chính cá nhân ngày càng trở nên quan trọng với nhóm tuổi 18-50, khi họ cần một công cụ hiệu quả như SmartWallet để theo dõi và kiểm soát chi tiêu.</a:t>
              </a:r>
            </a:p>
          </p:txBody>
        </p:sp>
        <p:sp>
          <p:nvSpPr>
            <p:cNvPr name="TextBox 8" id="8"/>
            <p:cNvSpPr txBox="true"/>
            <p:nvPr/>
          </p:nvSpPr>
          <p:spPr>
            <a:xfrm rot="0">
              <a:off x="0" y="-66675"/>
              <a:ext cx="9182100" cy="676275"/>
            </a:xfrm>
            <a:prstGeom prst="rect">
              <a:avLst/>
            </a:prstGeom>
          </p:spPr>
          <p:txBody>
            <a:bodyPr anchor="t" rtlCol="false" tIns="0" lIns="0" bIns="0" rIns="0">
              <a:spAutoFit/>
            </a:bodyPr>
            <a:lstStyle/>
            <a:p>
              <a:pPr algn="l" marL="0" indent="0" lvl="0">
                <a:lnSpc>
                  <a:spcPts val="4200"/>
                </a:lnSpc>
                <a:spcBef>
                  <a:spcPct val="0"/>
                </a:spcBef>
              </a:pPr>
              <a:r>
                <a:rPr lang="en-US" b="true" sz="3000">
                  <a:solidFill>
                    <a:srgbClr val="E0E6EF"/>
                  </a:solidFill>
                  <a:latin typeface="Proxima Nova Bold"/>
                  <a:ea typeface="Proxima Nova Bold"/>
                  <a:cs typeface="Proxima Nova Bold"/>
                  <a:sym typeface="Proxima Nova Bold"/>
                </a:rPr>
                <a:t>Nhu cầu tăng cao</a:t>
              </a:r>
            </a:p>
          </p:txBody>
        </p:sp>
      </p:grpSp>
      <p:sp>
        <p:nvSpPr>
          <p:cNvPr name="TextBox 9" id="9"/>
          <p:cNvSpPr txBox="true"/>
          <p:nvPr/>
        </p:nvSpPr>
        <p:spPr>
          <a:xfrm rot="0">
            <a:off x="307493" y="3403220"/>
            <a:ext cx="17141888" cy="2399665"/>
          </a:xfrm>
          <a:prstGeom prst="rect">
            <a:avLst/>
          </a:prstGeom>
        </p:spPr>
        <p:txBody>
          <a:bodyPr anchor="t" rtlCol="false" tIns="0" lIns="0" bIns="0" rIns="0">
            <a:spAutoFit/>
          </a:bodyPr>
          <a:lstStyle/>
          <a:p>
            <a:pPr algn="ctr">
              <a:lnSpc>
                <a:spcPts val="4759"/>
              </a:lnSpc>
            </a:pPr>
            <a:r>
              <a:rPr lang="en-US" sz="3399">
                <a:solidFill>
                  <a:srgbClr val="E0E6EF"/>
                </a:solidFill>
                <a:latin typeface="Times New Roman"/>
                <a:ea typeface="Times New Roman"/>
                <a:cs typeface="Times New Roman"/>
                <a:sym typeface="Times New Roman"/>
              </a:rPr>
              <a:t>SmartWallet là </a:t>
            </a:r>
            <a:r>
              <a:rPr lang="en-US" sz="3399">
                <a:solidFill>
                  <a:srgbClr val="E0E6EF"/>
                </a:solidFill>
                <a:latin typeface="Times New Roman"/>
                <a:ea typeface="Times New Roman"/>
                <a:cs typeface="Times New Roman"/>
                <a:sym typeface="Times New Roman"/>
              </a:rPr>
              <a:t>một ứng dụng ví điện tử hiện đại được phát triển bằng Flutter, cung cấp giải pháp quản lý tài chính cá nhân toàn diện với giao diện thân thiện và các tính năng thông minh, và hộ trợ tiếng Việt và tiếng Anh</a:t>
            </a:r>
          </a:p>
          <a:p>
            <a:pPr algn="ctr">
              <a:lnSpc>
                <a:spcPts val="4759"/>
              </a:lnSpc>
            </a:pPr>
          </a:p>
        </p:txBody>
      </p:sp>
    </p:spTree>
  </p:cSld>
  <p:clrMapOvr>
    <a:masterClrMapping/>
  </p:clrMapOvr>
</p:sld>
</file>

<file path=ppt/slides/slide3.xml><?xml version="1.0" encoding="utf-8"?>
<p:sld xmlns:p="http://schemas.openxmlformats.org/presentationml/2006/main" xmlns:a="http://schemas.openxmlformats.org/drawingml/2006/main">
  <p:cSld>
    <p:bg>
      <p:bgPr>
        <a:solidFill>
          <a:srgbClr val="27465A"/>
        </a:solidFill>
      </p:bgPr>
    </p:bg>
    <p:spTree>
      <p:nvGrpSpPr>
        <p:cNvPr id="1" name=""/>
        <p:cNvGrpSpPr/>
        <p:nvPr/>
      </p:nvGrpSpPr>
      <p:grpSpPr>
        <a:xfrm>
          <a:off x="0" y="0"/>
          <a:ext cx="0" cy="0"/>
          <a:chOff x="0" y="0"/>
          <a:chExt cx="0" cy="0"/>
        </a:xfrm>
      </p:grpSpPr>
      <p:grpSp>
        <p:nvGrpSpPr>
          <p:cNvPr name="Group 2" id="2"/>
          <p:cNvGrpSpPr/>
          <p:nvPr/>
        </p:nvGrpSpPr>
        <p:grpSpPr>
          <a:xfrm rot="0">
            <a:off x="666750" y="666750"/>
            <a:ext cx="12639675" cy="3151499"/>
            <a:chOff x="0" y="0"/>
            <a:chExt cx="16852900" cy="4201999"/>
          </a:xfrm>
        </p:grpSpPr>
        <p:sp>
          <p:nvSpPr>
            <p:cNvPr name="TextBox 3" id="3"/>
            <p:cNvSpPr txBox="true"/>
            <p:nvPr/>
          </p:nvSpPr>
          <p:spPr>
            <a:xfrm rot="0">
              <a:off x="0" y="-9525"/>
              <a:ext cx="16852900" cy="3116792"/>
            </a:xfrm>
            <a:prstGeom prst="rect">
              <a:avLst/>
            </a:prstGeom>
          </p:spPr>
          <p:txBody>
            <a:bodyPr anchor="t" rtlCol="false" tIns="0" lIns="0" bIns="0" rIns="0">
              <a:spAutoFit/>
            </a:bodyPr>
            <a:lstStyle/>
            <a:p>
              <a:pPr algn="l" marL="0" indent="0" lvl="0">
                <a:lnSpc>
                  <a:spcPts val="8800"/>
                </a:lnSpc>
              </a:pPr>
              <a:r>
                <a:rPr lang="en-US" b="true" sz="8000">
                  <a:solidFill>
                    <a:srgbClr val="E0E6EF"/>
                  </a:solidFill>
                  <a:latin typeface="Poppins Bold"/>
                  <a:ea typeface="Poppins Bold"/>
                  <a:cs typeface="Poppins Bold"/>
                  <a:sym typeface="Poppins Bold"/>
                </a:rPr>
                <a:t>Phân tích Yêu cầu Hệ thống</a:t>
              </a:r>
            </a:p>
          </p:txBody>
        </p:sp>
        <p:sp>
          <p:nvSpPr>
            <p:cNvPr name="TextBox 4" id="4"/>
            <p:cNvSpPr txBox="true"/>
            <p:nvPr/>
          </p:nvSpPr>
          <p:spPr>
            <a:xfrm rot="0">
              <a:off x="0" y="3525724"/>
              <a:ext cx="16852900" cy="676275"/>
            </a:xfrm>
            <a:prstGeom prst="rect">
              <a:avLst/>
            </a:prstGeom>
          </p:spPr>
          <p:txBody>
            <a:bodyPr anchor="t" rtlCol="false" tIns="0" lIns="0" bIns="0" rIns="0">
              <a:spAutoFit/>
            </a:bodyPr>
            <a:lstStyle/>
            <a:p>
              <a:pPr algn="l" marL="0" indent="0" lvl="0">
                <a:lnSpc>
                  <a:spcPts val="4200"/>
                </a:lnSpc>
                <a:spcBef>
                  <a:spcPct val="0"/>
                </a:spcBef>
              </a:pPr>
              <a:r>
                <a:rPr lang="en-US" b="true" sz="3000">
                  <a:solidFill>
                    <a:srgbClr val="E0E6EF"/>
                  </a:solidFill>
                  <a:latin typeface="Proxima Nova Bold"/>
                  <a:ea typeface="Proxima Nova Bold"/>
                  <a:cs typeface="Proxima Nova Bold"/>
                  <a:sym typeface="Proxima Nova Bold"/>
                </a:rPr>
                <a:t>Yêu cầu chức năng và phi chức năng</a:t>
              </a:r>
            </a:p>
          </p:txBody>
        </p:sp>
      </p:grpSp>
      <p:grpSp>
        <p:nvGrpSpPr>
          <p:cNvPr name="Group 5" id="5"/>
          <p:cNvGrpSpPr/>
          <p:nvPr/>
        </p:nvGrpSpPr>
        <p:grpSpPr>
          <a:xfrm rot="0">
            <a:off x="666750" y="5143500"/>
            <a:ext cx="6886575" cy="2401846"/>
            <a:chOff x="0" y="0"/>
            <a:chExt cx="9182100" cy="3202461"/>
          </a:xfrm>
        </p:grpSpPr>
        <p:sp>
          <p:nvSpPr>
            <p:cNvPr name="TextBox 6" id="6"/>
            <p:cNvSpPr txBox="true"/>
            <p:nvPr/>
          </p:nvSpPr>
          <p:spPr>
            <a:xfrm rot="0">
              <a:off x="0" y="1010441"/>
              <a:ext cx="9182100" cy="2192020"/>
            </a:xfrm>
            <a:prstGeom prst="rect">
              <a:avLst/>
            </a:prstGeom>
          </p:spPr>
          <p:txBody>
            <a:bodyPr anchor="t" rtlCol="false" tIns="0" lIns="0" bIns="0" rIns="0">
              <a:spAutoFit/>
            </a:bodyPr>
            <a:lstStyle/>
            <a:p>
              <a:pPr algn="l" marL="0" indent="0" lvl="0">
                <a:lnSpc>
                  <a:spcPts val="3359"/>
                </a:lnSpc>
                <a:spcBef>
                  <a:spcPct val="0"/>
                </a:spcBef>
              </a:pPr>
              <a:r>
                <a:rPr lang="en-US" sz="2400">
                  <a:solidFill>
                    <a:srgbClr val="E0E6EF"/>
                  </a:solidFill>
                  <a:latin typeface="Proxima Nova"/>
                  <a:ea typeface="Proxima Nova"/>
                  <a:cs typeface="Proxima Nova"/>
                  <a:sym typeface="Proxima Nova"/>
                </a:rPr>
                <a:t>Ứng dụng SmartWallet cần </a:t>
              </a:r>
              <a:r>
                <a:rPr lang="en-US" b="true" sz="2400">
                  <a:solidFill>
                    <a:srgbClr val="E0E6EF"/>
                  </a:solidFill>
                  <a:latin typeface="Proxima Nova Bold"/>
                  <a:ea typeface="Proxima Nova Bold"/>
                  <a:cs typeface="Proxima Nova Bold"/>
                  <a:sym typeface="Proxima Nova Bold"/>
                </a:rPr>
                <a:t>xác thực người dùng</a:t>
              </a:r>
              <a:r>
                <a:rPr lang="en-US" sz="2400">
                  <a:solidFill>
                    <a:srgbClr val="E0E6EF"/>
                  </a:solidFill>
                  <a:latin typeface="Proxima Nova"/>
                  <a:ea typeface="Proxima Nova"/>
                  <a:cs typeface="Proxima Nova"/>
                  <a:sym typeface="Proxima Nova"/>
                </a:rPr>
                <a:t>, cho phép người dùng đăng nhập và đăng ký dễ dàng, đồng thời quản lý ví tiền và theo dõi giao dịch một cách hiệu quả.</a:t>
              </a:r>
            </a:p>
          </p:txBody>
        </p:sp>
        <p:sp>
          <p:nvSpPr>
            <p:cNvPr name="TextBox 7" id="7"/>
            <p:cNvSpPr txBox="true"/>
            <p:nvPr/>
          </p:nvSpPr>
          <p:spPr>
            <a:xfrm rot="0">
              <a:off x="0" y="-66675"/>
              <a:ext cx="9182100" cy="676275"/>
            </a:xfrm>
            <a:prstGeom prst="rect">
              <a:avLst/>
            </a:prstGeom>
          </p:spPr>
          <p:txBody>
            <a:bodyPr anchor="t" rtlCol="false" tIns="0" lIns="0" bIns="0" rIns="0">
              <a:spAutoFit/>
            </a:bodyPr>
            <a:lstStyle/>
            <a:p>
              <a:pPr algn="l" marL="0" indent="0" lvl="0">
                <a:lnSpc>
                  <a:spcPts val="4200"/>
                </a:lnSpc>
                <a:spcBef>
                  <a:spcPct val="0"/>
                </a:spcBef>
              </a:pPr>
              <a:r>
                <a:rPr lang="en-US" b="true" sz="3000">
                  <a:solidFill>
                    <a:srgbClr val="E0E6EF"/>
                  </a:solidFill>
                  <a:latin typeface="Proxima Nova Bold"/>
                  <a:ea typeface="Proxima Nova Bold"/>
                  <a:cs typeface="Proxima Nova Bold"/>
                  <a:sym typeface="Proxima Nova Bold"/>
                </a:rPr>
                <a:t>Yêu cầu chức năng</a:t>
              </a:r>
            </a:p>
          </p:txBody>
        </p:sp>
      </p:grpSp>
      <p:grpSp>
        <p:nvGrpSpPr>
          <p:cNvPr name="Group 8" id="8"/>
          <p:cNvGrpSpPr/>
          <p:nvPr/>
        </p:nvGrpSpPr>
        <p:grpSpPr>
          <a:xfrm rot="0">
            <a:off x="9296400" y="5143500"/>
            <a:ext cx="6886575" cy="2401846"/>
            <a:chOff x="0" y="0"/>
            <a:chExt cx="9182100" cy="3202461"/>
          </a:xfrm>
        </p:grpSpPr>
        <p:sp>
          <p:nvSpPr>
            <p:cNvPr name="TextBox 9" id="9"/>
            <p:cNvSpPr txBox="true"/>
            <p:nvPr/>
          </p:nvSpPr>
          <p:spPr>
            <a:xfrm rot="0">
              <a:off x="0" y="1010441"/>
              <a:ext cx="9182100" cy="2192020"/>
            </a:xfrm>
            <a:prstGeom prst="rect">
              <a:avLst/>
            </a:prstGeom>
          </p:spPr>
          <p:txBody>
            <a:bodyPr anchor="t" rtlCol="false" tIns="0" lIns="0" bIns="0" rIns="0">
              <a:spAutoFit/>
            </a:bodyPr>
            <a:lstStyle/>
            <a:p>
              <a:pPr algn="l" marL="0" indent="0" lvl="0">
                <a:lnSpc>
                  <a:spcPts val="3359"/>
                </a:lnSpc>
                <a:spcBef>
                  <a:spcPct val="0"/>
                </a:spcBef>
              </a:pPr>
              <a:r>
                <a:rPr lang="en-US" sz="2400">
                  <a:solidFill>
                    <a:srgbClr val="E0E6EF"/>
                  </a:solidFill>
                  <a:latin typeface="Proxima Nova"/>
                  <a:ea typeface="Proxima Nova"/>
                  <a:cs typeface="Proxima Nova"/>
                  <a:sym typeface="Proxima Nova"/>
                </a:rPr>
                <a:t>Ứng dụng cần đảm bảo </a:t>
              </a:r>
              <a:r>
                <a:rPr lang="en-US" b="true" sz="2400">
                  <a:solidFill>
                    <a:srgbClr val="E0E6EF"/>
                  </a:solidFill>
                  <a:latin typeface="Proxima Nova Bold"/>
                  <a:ea typeface="Proxima Nova Bold"/>
                  <a:cs typeface="Proxima Nova Bold"/>
                  <a:sym typeface="Proxima Nova Bold"/>
                </a:rPr>
                <a:t>hiệu năng tối ưu</a:t>
              </a:r>
              <a:r>
                <a:rPr lang="en-US" sz="2400">
                  <a:solidFill>
                    <a:srgbClr val="E0E6EF"/>
                  </a:solidFill>
                  <a:latin typeface="Proxima Nova"/>
                  <a:ea typeface="Proxima Nova"/>
                  <a:cs typeface="Proxima Nova"/>
                  <a:sym typeface="Proxima Nova"/>
                </a:rPr>
                <a:t>, với thời gian phản hồi nhanh chóng và tuân thủ các tiêu chuẩn bảo mật cao, đồng thời thân thiện với người dùng trên nhiều thiết bị.</a:t>
              </a:r>
            </a:p>
          </p:txBody>
        </p:sp>
        <p:sp>
          <p:nvSpPr>
            <p:cNvPr name="TextBox 10" id="10"/>
            <p:cNvSpPr txBox="true"/>
            <p:nvPr/>
          </p:nvSpPr>
          <p:spPr>
            <a:xfrm rot="0">
              <a:off x="0" y="-66675"/>
              <a:ext cx="9182100" cy="676275"/>
            </a:xfrm>
            <a:prstGeom prst="rect">
              <a:avLst/>
            </a:prstGeom>
          </p:spPr>
          <p:txBody>
            <a:bodyPr anchor="t" rtlCol="false" tIns="0" lIns="0" bIns="0" rIns="0">
              <a:spAutoFit/>
            </a:bodyPr>
            <a:lstStyle/>
            <a:p>
              <a:pPr algn="l" marL="0" indent="0" lvl="0">
                <a:lnSpc>
                  <a:spcPts val="4200"/>
                </a:lnSpc>
                <a:spcBef>
                  <a:spcPct val="0"/>
                </a:spcBef>
              </a:pPr>
              <a:r>
                <a:rPr lang="en-US" b="true" sz="3000">
                  <a:solidFill>
                    <a:srgbClr val="E0E6EF"/>
                  </a:solidFill>
                  <a:latin typeface="Proxima Nova Bold"/>
                  <a:ea typeface="Proxima Nova Bold"/>
                  <a:cs typeface="Proxima Nova Bold"/>
                  <a:sym typeface="Proxima Nova Bold"/>
                </a:rPr>
                <a:t>Yêu cầu phi chức năng</a:t>
              </a:r>
            </a:p>
          </p:txBody>
        </p:sp>
      </p:gr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1E2A38"/>
        </a:solidFill>
      </p:bgPr>
    </p:bg>
    <p:spTree>
      <p:nvGrpSpPr>
        <p:cNvPr id="1" name=""/>
        <p:cNvGrpSpPr/>
        <p:nvPr/>
      </p:nvGrpSpPr>
      <p:grpSpPr>
        <a:xfrm>
          <a:off x="0" y="0"/>
          <a:ext cx="0" cy="0"/>
          <a:chOff x="0" y="0"/>
          <a:chExt cx="0" cy="0"/>
        </a:xfrm>
      </p:grpSpPr>
      <p:grpSp>
        <p:nvGrpSpPr>
          <p:cNvPr name="Group 2" id="2"/>
          <p:cNvGrpSpPr/>
          <p:nvPr/>
        </p:nvGrpSpPr>
        <p:grpSpPr>
          <a:xfrm rot="0">
            <a:off x="9144000" y="0"/>
            <a:ext cx="9144000" cy="10287000"/>
            <a:chOff x="0" y="0"/>
            <a:chExt cx="1457995" cy="1640244"/>
          </a:xfrm>
        </p:grpSpPr>
        <p:sp>
          <p:nvSpPr>
            <p:cNvPr name="Freeform 3" id="3"/>
            <p:cNvSpPr/>
            <p:nvPr/>
          </p:nvSpPr>
          <p:spPr>
            <a:xfrm flipH="false" flipV="false" rot="0">
              <a:off x="0" y="0"/>
              <a:ext cx="1457995" cy="1640244"/>
            </a:xfrm>
            <a:custGeom>
              <a:avLst/>
              <a:gdLst/>
              <a:ahLst/>
              <a:cxnLst/>
              <a:rect r="r" b="b" t="t" l="l"/>
              <a:pathLst>
                <a:path h="1640244" w="1457995">
                  <a:moveTo>
                    <a:pt x="0" y="0"/>
                  </a:moveTo>
                  <a:lnTo>
                    <a:pt x="1457995" y="0"/>
                  </a:lnTo>
                  <a:lnTo>
                    <a:pt x="1457995" y="1640244"/>
                  </a:lnTo>
                  <a:lnTo>
                    <a:pt x="0" y="1640244"/>
                  </a:lnTo>
                  <a:close/>
                </a:path>
              </a:pathLst>
            </a:custGeom>
            <a:blipFill>
              <a:blip r:embed="rId2"/>
              <a:stretch>
                <a:fillRect l="0" t="-12257" r="0" b="-12257"/>
              </a:stretch>
            </a:blipFill>
          </p:spPr>
        </p:sp>
      </p:grpSp>
      <p:grpSp>
        <p:nvGrpSpPr>
          <p:cNvPr name="Group 4" id="4"/>
          <p:cNvGrpSpPr/>
          <p:nvPr/>
        </p:nvGrpSpPr>
        <p:grpSpPr>
          <a:xfrm rot="0">
            <a:off x="672042" y="666750"/>
            <a:ext cx="6886575" cy="5617791"/>
            <a:chOff x="0" y="0"/>
            <a:chExt cx="9182100" cy="7490388"/>
          </a:xfrm>
        </p:grpSpPr>
        <p:sp>
          <p:nvSpPr>
            <p:cNvPr name="TextBox 5" id="5"/>
            <p:cNvSpPr txBox="true"/>
            <p:nvPr/>
          </p:nvSpPr>
          <p:spPr>
            <a:xfrm rot="0">
              <a:off x="0" y="3543300"/>
              <a:ext cx="9167398" cy="1308100"/>
            </a:xfrm>
            <a:prstGeom prst="rect">
              <a:avLst/>
            </a:prstGeom>
          </p:spPr>
          <p:txBody>
            <a:bodyPr anchor="t" rtlCol="false" tIns="0" lIns="0" bIns="0" rIns="0">
              <a:spAutoFit/>
            </a:bodyPr>
            <a:lstStyle/>
            <a:p>
              <a:pPr algn="l" marL="0" indent="0" lvl="0">
                <a:lnSpc>
                  <a:spcPts val="3900"/>
                </a:lnSpc>
              </a:pPr>
              <a:r>
                <a:rPr lang="en-US" b="true" sz="3000">
                  <a:solidFill>
                    <a:srgbClr val="E0E6EF"/>
                  </a:solidFill>
                  <a:latin typeface="Proxima Nova Bold"/>
                  <a:ea typeface="Proxima Nova Bold"/>
                  <a:cs typeface="Proxima Nova Bold"/>
                  <a:sym typeface="Proxima Nova Bold"/>
                </a:rPr>
                <a:t>Các yêu cầu chức năng chính của ứng dụng SmartWallet để quản lý tài chính</a:t>
              </a:r>
            </a:p>
          </p:txBody>
        </p:sp>
        <p:sp>
          <p:nvSpPr>
            <p:cNvPr name="TextBox 6" id="6"/>
            <p:cNvSpPr txBox="true"/>
            <p:nvPr/>
          </p:nvSpPr>
          <p:spPr>
            <a:xfrm rot="0">
              <a:off x="0" y="5949878"/>
              <a:ext cx="9182100" cy="1540510"/>
            </a:xfrm>
            <a:prstGeom prst="rect">
              <a:avLst/>
            </a:prstGeom>
          </p:spPr>
          <p:txBody>
            <a:bodyPr anchor="t" rtlCol="false" tIns="0" lIns="0" bIns="0" rIns="0">
              <a:spAutoFit/>
            </a:bodyPr>
            <a:lstStyle/>
            <a:p>
              <a:pPr algn="l" marL="518160" indent="-259080" lvl="1">
                <a:lnSpc>
                  <a:spcPts val="3120"/>
                </a:lnSpc>
                <a:buFont typeface="Arial"/>
                <a:buChar char="•"/>
              </a:pPr>
              <a:r>
                <a:rPr lang="en-US" sz="2400" strike="noStrike" u="none">
                  <a:solidFill>
                    <a:srgbClr val="E0E6EF"/>
                  </a:solidFill>
                  <a:latin typeface="Proxima Nova"/>
                  <a:ea typeface="Proxima Nova"/>
                  <a:cs typeface="Proxima Nova"/>
                  <a:sym typeface="Proxima Nova"/>
                </a:rPr>
                <a:t>Xác thực người dùng qua đăng nhập, đăng ký</a:t>
              </a:r>
            </a:p>
            <a:p>
              <a:pPr algn="l" marL="518160" indent="-259080" lvl="1">
                <a:lnSpc>
                  <a:spcPts val="3120"/>
                </a:lnSpc>
                <a:buFont typeface="Arial"/>
                <a:buChar char="•"/>
              </a:pPr>
              <a:r>
                <a:rPr lang="en-US" sz="2400" strike="noStrike" u="none">
                  <a:solidFill>
                    <a:srgbClr val="E0E6EF"/>
                  </a:solidFill>
                  <a:latin typeface="Proxima Nova"/>
                  <a:ea typeface="Proxima Nova"/>
                  <a:cs typeface="Proxima Nova"/>
                  <a:sym typeface="Proxima Nova"/>
                </a:rPr>
                <a:t>Quản lý ví: tạo, sửa, xóa ví tiền</a:t>
              </a:r>
            </a:p>
            <a:p>
              <a:pPr algn="l" marL="518160" indent="-259080" lvl="1">
                <a:lnSpc>
                  <a:spcPts val="3120"/>
                </a:lnSpc>
                <a:buFont typeface="Arial"/>
                <a:buChar char="•"/>
              </a:pPr>
              <a:r>
                <a:rPr lang="en-US" sz="2400" strike="noStrike" u="none">
                  <a:solidFill>
                    <a:srgbClr val="E0E6EF"/>
                  </a:solidFill>
                  <a:latin typeface="Proxima Nova"/>
                  <a:ea typeface="Proxima Nova"/>
                  <a:cs typeface="Proxima Nova"/>
                  <a:sym typeface="Proxima Nova"/>
                </a:rPr>
                <a:t>Quản lý giao dịch: chuyển tiền và xem lịch sử</a:t>
              </a:r>
            </a:p>
          </p:txBody>
        </p:sp>
        <p:sp>
          <p:nvSpPr>
            <p:cNvPr name="TextBox 7" id="7"/>
            <p:cNvSpPr txBox="true"/>
            <p:nvPr/>
          </p:nvSpPr>
          <p:spPr>
            <a:xfrm rot="0">
              <a:off x="0" y="-9525"/>
              <a:ext cx="9175044" cy="3116792"/>
            </a:xfrm>
            <a:prstGeom prst="rect">
              <a:avLst/>
            </a:prstGeom>
          </p:spPr>
          <p:txBody>
            <a:bodyPr anchor="t" rtlCol="false" tIns="0" lIns="0" bIns="0" rIns="0">
              <a:spAutoFit/>
            </a:bodyPr>
            <a:lstStyle/>
            <a:p>
              <a:pPr algn="l" marL="0" indent="0" lvl="0">
                <a:lnSpc>
                  <a:spcPts val="8800"/>
                </a:lnSpc>
              </a:pPr>
              <a:r>
                <a:rPr lang="en-US" b="true" sz="8000">
                  <a:solidFill>
                    <a:srgbClr val="E0E6EF"/>
                  </a:solidFill>
                  <a:latin typeface="Poppins Bold"/>
                  <a:ea typeface="Poppins Bold"/>
                  <a:cs typeface="Poppins Bold"/>
                  <a:sym typeface="Poppins Bold"/>
                </a:rPr>
                <a:t>Yêu cầu Chức năng</a:t>
              </a:r>
            </a:p>
          </p:txBody>
        </p:sp>
      </p:grpSp>
    </p:spTree>
  </p:cSld>
  <p:clrMapOvr>
    <a:masterClrMapping/>
  </p:clrMapOvr>
</p:sld>
</file>

<file path=ppt/slides/slide5.xml><?xml version="1.0" encoding="utf-8"?>
<p:sld xmlns:p="http://schemas.openxmlformats.org/presentationml/2006/main" xmlns:a="http://schemas.openxmlformats.org/drawingml/2006/main">
  <p:cSld>
    <p:bg>
      <p:bgPr>
        <a:solidFill>
          <a:srgbClr val="27465A"/>
        </a:solidFill>
      </p:bgPr>
    </p:bg>
    <p:spTree>
      <p:nvGrpSpPr>
        <p:cNvPr id="1" name=""/>
        <p:cNvGrpSpPr/>
        <p:nvPr/>
      </p:nvGrpSpPr>
      <p:grpSpPr>
        <a:xfrm>
          <a:off x="0" y="0"/>
          <a:ext cx="0" cy="0"/>
          <a:chOff x="0" y="0"/>
          <a:chExt cx="0" cy="0"/>
        </a:xfrm>
      </p:grpSpPr>
      <p:grpSp>
        <p:nvGrpSpPr>
          <p:cNvPr name="Group 2" id="2"/>
          <p:cNvGrpSpPr/>
          <p:nvPr/>
        </p:nvGrpSpPr>
        <p:grpSpPr>
          <a:xfrm rot="0">
            <a:off x="666750" y="666750"/>
            <a:ext cx="12639675" cy="2037074"/>
            <a:chOff x="0" y="0"/>
            <a:chExt cx="16852900" cy="2716099"/>
          </a:xfrm>
        </p:grpSpPr>
        <p:sp>
          <p:nvSpPr>
            <p:cNvPr name="TextBox 3" id="3"/>
            <p:cNvSpPr txBox="true"/>
            <p:nvPr/>
          </p:nvSpPr>
          <p:spPr>
            <a:xfrm rot="0">
              <a:off x="0" y="-9525"/>
              <a:ext cx="16852900" cy="1630892"/>
            </a:xfrm>
            <a:prstGeom prst="rect">
              <a:avLst/>
            </a:prstGeom>
          </p:spPr>
          <p:txBody>
            <a:bodyPr anchor="t" rtlCol="false" tIns="0" lIns="0" bIns="0" rIns="0">
              <a:spAutoFit/>
            </a:bodyPr>
            <a:lstStyle/>
            <a:p>
              <a:pPr algn="l" marL="0" indent="0" lvl="0">
                <a:lnSpc>
                  <a:spcPts val="8800"/>
                </a:lnSpc>
              </a:pPr>
              <a:r>
                <a:rPr lang="en-US" b="true" sz="8000">
                  <a:solidFill>
                    <a:srgbClr val="E0E6EF"/>
                  </a:solidFill>
                  <a:latin typeface="Poppins Bold"/>
                  <a:ea typeface="Poppins Bold"/>
                  <a:cs typeface="Poppins Bold"/>
                  <a:sym typeface="Poppins Bold"/>
                </a:rPr>
                <a:t>Yêu cầu phi chức năng</a:t>
              </a:r>
            </a:p>
          </p:txBody>
        </p:sp>
        <p:sp>
          <p:nvSpPr>
            <p:cNvPr name="TextBox 4" id="4"/>
            <p:cNvSpPr txBox="true"/>
            <p:nvPr/>
          </p:nvSpPr>
          <p:spPr>
            <a:xfrm rot="0">
              <a:off x="0" y="2039824"/>
              <a:ext cx="16852900" cy="676275"/>
            </a:xfrm>
            <a:prstGeom prst="rect">
              <a:avLst/>
            </a:prstGeom>
          </p:spPr>
          <p:txBody>
            <a:bodyPr anchor="t" rtlCol="false" tIns="0" lIns="0" bIns="0" rIns="0">
              <a:spAutoFit/>
            </a:bodyPr>
            <a:lstStyle/>
            <a:p>
              <a:pPr algn="l" marL="0" indent="0" lvl="0">
                <a:lnSpc>
                  <a:spcPts val="4200"/>
                </a:lnSpc>
                <a:spcBef>
                  <a:spcPct val="0"/>
                </a:spcBef>
              </a:pPr>
              <a:r>
                <a:rPr lang="en-US" b="true" sz="3000">
                  <a:solidFill>
                    <a:srgbClr val="E0E6EF"/>
                  </a:solidFill>
                  <a:latin typeface="Proxima Nova Bold"/>
                  <a:ea typeface="Proxima Nova Bold"/>
                  <a:cs typeface="Proxima Nova Bold"/>
                  <a:sym typeface="Proxima Nova Bold"/>
                </a:rPr>
                <a:t>Hiệu năng và Bảo mật</a:t>
              </a:r>
            </a:p>
          </p:txBody>
        </p:sp>
      </p:grpSp>
      <p:grpSp>
        <p:nvGrpSpPr>
          <p:cNvPr name="Group 5" id="5"/>
          <p:cNvGrpSpPr/>
          <p:nvPr/>
        </p:nvGrpSpPr>
        <p:grpSpPr>
          <a:xfrm rot="0">
            <a:off x="666750" y="5143500"/>
            <a:ext cx="6886575" cy="2401846"/>
            <a:chOff x="0" y="0"/>
            <a:chExt cx="9182100" cy="3202461"/>
          </a:xfrm>
        </p:grpSpPr>
        <p:sp>
          <p:nvSpPr>
            <p:cNvPr name="TextBox 6" id="6"/>
            <p:cNvSpPr txBox="true"/>
            <p:nvPr/>
          </p:nvSpPr>
          <p:spPr>
            <a:xfrm rot="0">
              <a:off x="0" y="1010441"/>
              <a:ext cx="9182100" cy="2192020"/>
            </a:xfrm>
            <a:prstGeom prst="rect">
              <a:avLst/>
            </a:prstGeom>
          </p:spPr>
          <p:txBody>
            <a:bodyPr anchor="t" rtlCol="false" tIns="0" lIns="0" bIns="0" rIns="0">
              <a:spAutoFit/>
            </a:bodyPr>
            <a:lstStyle/>
            <a:p>
              <a:pPr algn="l" marL="0" indent="0" lvl="0">
                <a:lnSpc>
                  <a:spcPts val="3359"/>
                </a:lnSpc>
                <a:spcBef>
                  <a:spcPct val="0"/>
                </a:spcBef>
              </a:pPr>
              <a:r>
                <a:rPr lang="en-US" sz="2400">
                  <a:solidFill>
                    <a:srgbClr val="E0E6EF"/>
                  </a:solidFill>
                  <a:latin typeface="Proxima Nova"/>
                  <a:ea typeface="Proxima Nova"/>
                  <a:cs typeface="Proxima Nova"/>
                  <a:sym typeface="Proxima Nova"/>
                </a:rPr>
                <a:t>Ứng dụng cần </a:t>
              </a:r>
              <a:r>
                <a:rPr lang="en-US" b="true" sz="2400">
                  <a:solidFill>
                    <a:srgbClr val="E0E6EF"/>
                  </a:solidFill>
                  <a:latin typeface="Proxima Nova Bold"/>
                  <a:ea typeface="Proxima Nova Bold"/>
                  <a:cs typeface="Proxima Nova Bold"/>
                  <a:sym typeface="Proxima Nova Bold"/>
                </a:rPr>
                <a:t>thời gian phản hồi nhanh</a:t>
              </a:r>
              <a:r>
                <a:rPr lang="en-US" sz="2400">
                  <a:solidFill>
                    <a:srgbClr val="E0E6EF"/>
                  </a:solidFill>
                  <a:latin typeface="Proxima Nova"/>
                  <a:ea typeface="Proxima Nova"/>
                  <a:cs typeface="Proxima Nova"/>
                  <a:sym typeface="Proxima Nova"/>
                </a:rPr>
                <a:t> và mượt mà, đảm bảo trải nghiệm người dùng tốt nhất cho quá trình quản lý tài chính cá nhân một cách hiệu quả.</a:t>
              </a:r>
            </a:p>
          </p:txBody>
        </p:sp>
        <p:sp>
          <p:nvSpPr>
            <p:cNvPr name="TextBox 7" id="7"/>
            <p:cNvSpPr txBox="true"/>
            <p:nvPr/>
          </p:nvSpPr>
          <p:spPr>
            <a:xfrm rot="0">
              <a:off x="0" y="-66675"/>
              <a:ext cx="9182100" cy="676275"/>
            </a:xfrm>
            <a:prstGeom prst="rect">
              <a:avLst/>
            </a:prstGeom>
          </p:spPr>
          <p:txBody>
            <a:bodyPr anchor="t" rtlCol="false" tIns="0" lIns="0" bIns="0" rIns="0">
              <a:spAutoFit/>
            </a:bodyPr>
            <a:lstStyle/>
            <a:p>
              <a:pPr algn="l" marL="0" indent="0" lvl="0">
                <a:lnSpc>
                  <a:spcPts val="4200"/>
                </a:lnSpc>
                <a:spcBef>
                  <a:spcPct val="0"/>
                </a:spcBef>
              </a:pPr>
              <a:r>
                <a:rPr lang="en-US" b="true" sz="3000">
                  <a:solidFill>
                    <a:srgbClr val="E0E6EF"/>
                  </a:solidFill>
                  <a:latin typeface="Proxima Nova Bold"/>
                  <a:ea typeface="Proxima Nova Bold"/>
                  <a:cs typeface="Proxima Nova Bold"/>
                  <a:sym typeface="Proxima Nova Bold"/>
                </a:rPr>
                <a:t>Hiệu năng ứng dụng</a:t>
              </a:r>
            </a:p>
          </p:txBody>
        </p:sp>
      </p:grpSp>
      <p:grpSp>
        <p:nvGrpSpPr>
          <p:cNvPr name="Group 8" id="8"/>
          <p:cNvGrpSpPr/>
          <p:nvPr/>
        </p:nvGrpSpPr>
        <p:grpSpPr>
          <a:xfrm rot="0">
            <a:off x="9296400" y="5143500"/>
            <a:ext cx="6886575" cy="2401846"/>
            <a:chOff x="0" y="0"/>
            <a:chExt cx="9182100" cy="3202461"/>
          </a:xfrm>
        </p:grpSpPr>
        <p:sp>
          <p:nvSpPr>
            <p:cNvPr name="TextBox 9" id="9"/>
            <p:cNvSpPr txBox="true"/>
            <p:nvPr/>
          </p:nvSpPr>
          <p:spPr>
            <a:xfrm rot="0">
              <a:off x="0" y="1010441"/>
              <a:ext cx="9182100" cy="2192020"/>
            </a:xfrm>
            <a:prstGeom prst="rect">
              <a:avLst/>
            </a:prstGeom>
          </p:spPr>
          <p:txBody>
            <a:bodyPr anchor="t" rtlCol="false" tIns="0" lIns="0" bIns="0" rIns="0">
              <a:spAutoFit/>
            </a:bodyPr>
            <a:lstStyle/>
            <a:p>
              <a:pPr algn="l" marL="0" indent="0" lvl="0">
                <a:lnSpc>
                  <a:spcPts val="3359"/>
                </a:lnSpc>
                <a:spcBef>
                  <a:spcPct val="0"/>
                </a:spcBef>
              </a:pPr>
              <a:r>
                <a:rPr lang="en-US" sz="2400">
                  <a:solidFill>
                    <a:srgbClr val="E0E6EF"/>
                  </a:solidFill>
                  <a:latin typeface="Proxima Nova"/>
                  <a:ea typeface="Proxima Nova"/>
                  <a:cs typeface="Proxima Nova"/>
                  <a:sym typeface="Proxima Nova"/>
                </a:rPr>
                <a:t>Bảo mật là yếu tố quan trọng, với mô phỏng quy trình bảo mật giúp bảo vệ thông tin cá nhân, đảm bảo an toàn cho người dùng khi thực hiện giao dịch.</a:t>
              </a:r>
            </a:p>
          </p:txBody>
        </p:sp>
        <p:sp>
          <p:nvSpPr>
            <p:cNvPr name="TextBox 10" id="10"/>
            <p:cNvSpPr txBox="true"/>
            <p:nvPr/>
          </p:nvSpPr>
          <p:spPr>
            <a:xfrm rot="0">
              <a:off x="0" y="-66675"/>
              <a:ext cx="9182100" cy="676275"/>
            </a:xfrm>
            <a:prstGeom prst="rect">
              <a:avLst/>
            </a:prstGeom>
          </p:spPr>
          <p:txBody>
            <a:bodyPr anchor="t" rtlCol="false" tIns="0" lIns="0" bIns="0" rIns="0">
              <a:spAutoFit/>
            </a:bodyPr>
            <a:lstStyle/>
            <a:p>
              <a:pPr algn="l" marL="0" indent="0" lvl="0">
                <a:lnSpc>
                  <a:spcPts val="4200"/>
                </a:lnSpc>
                <a:spcBef>
                  <a:spcPct val="0"/>
                </a:spcBef>
              </a:pPr>
              <a:r>
                <a:rPr lang="en-US" b="true" sz="3000">
                  <a:solidFill>
                    <a:srgbClr val="E0E6EF"/>
                  </a:solidFill>
                  <a:latin typeface="Proxima Nova Bold"/>
                  <a:ea typeface="Proxima Nova Bold"/>
                  <a:cs typeface="Proxima Nova Bold"/>
                  <a:sym typeface="Proxima Nova Bold"/>
                </a:rPr>
                <a:t>Bảo mật dữ liệu</a:t>
              </a:r>
            </a:p>
          </p:txBody>
        </p:sp>
      </p:gr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1E2A38"/>
        </a:solidFill>
      </p:bgPr>
    </p:bg>
    <p:spTree>
      <p:nvGrpSpPr>
        <p:cNvPr id="1" name=""/>
        <p:cNvGrpSpPr/>
        <p:nvPr/>
      </p:nvGrpSpPr>
      <p:grpSpPr>
        <a:xfrm>
          <a:off x="0" y="0"/>
          <a:ext cx="0" cy="0"/>
          <a:chOff x="0" y="0"/>
          <a:chExt cx="0" cy="0"/>
        </a:xfrm>
      </p:grpSpPr>
      <p:sp>
        <p:nvSpPr>
          <p:cNvPr name="Freeform 2" id="2"/>
          <p:cNvSpPr/>
          <p:nvPr/>
        </p:nvSpPr>
        <p:spPr>
          <a:xfrm flipH="false" flipV="false" rot="0">
            <a:off x="1028700" y="4175556"/>
            <a:ext cx="4558995" cy="5517342"/>
          </a:xfrm>
          <a:custGeom>
            <a:avLst/>
            <a:gdLst/>
            <a:ahLst/>
            <a:cxnLst/>
            <a:rect r="r" b="b" t="t" l="l"/>
            <a:pathLst>
              <a:path h="5517342" w="4558995">
                <a:moveTo>
                  <a:pt x="0" y="0"/>
                </a:moveTo>
                <a:lnTo>
                  <a:pt x="4558995" y="0"/>
                </a:lnTo>
                <a:lnTo>
                  <a:pt x="4558995" y="5517342"/>
                </a:lnTo>
                <a:lnTo>
                  <a:pt x="0" y="5517342"/>
                </a:lnTo>
                <a:lnTo>
                  <a:pt x="0" y="0"/>
                </a:lnTo>
                <a:close/>
              </a:path>
            </a:pathLst>
          </a:custGeom>
          <a:blipFill>
            <a:blip r:embed="rId2"/>
            <a:stretch>
              <a:fillRect l="0" t="0" r="0" b="0"/>
            </a:stretch>
          </a:blipFill>
        </p:spPr>
      </p:sp>
      <p:grpSp>
        <p:nvGrpSpPr>
          <p:cNvPr name="Group 3" id="3"/>
          <p:cNvGrpSpPr/>
          <p:nvPr/>
        </p:nvGrpSpPr>
        <p:grpSpPr>
          <a:xfrm rot="0">
            <a:off x="666750" y="666689"/>
            <a:ext cx="8324850" cy="3220105"/>
            <a:chOff x="0" y="0"/>
            <a:chExt cx="11099800" cy="4293473"/>
          </a:xfrm>
        </p:grpSpPr>
        <p:sp>
          <p:nvSpPr>
            <p:cNvPr name="TextBox 4" id="4"/>
            <p:cNvSpPr txBox="true"/>
            <p:nvPr/>
          </p:nvSpPr>
          <p:spPr>
            <a:xfrm rot="0">
              <a:off x="0" y="-9525"/>
              <a:ext cx="11099800" cy="3116792"/>
            </a:xfrm>
            <a:prstGeom prst="rect">
              <a:avLst/>
            </a:prstGeom>
          </p:spPr>
          <p:txBody>
            <a:bodyPr anchor="t" rtlCol="false" tIns="0" lIns="0" bIns="0" rIns="0">
              <a:spAutoFit/>
            </a:bodyPr>
            <a:lstStyle/>
            <a:p>
              <a:pPr algn="l" marL="0" indent="0" lvl="0">
                <a:lnSpc>
                  <a:spcPts val="8800"/>
                </a:lnSpc>
              </a:pPr>
              <a:r>
                <a:rPr lang="en-US" b="true" sz="8000">
                  <a:solidFill>
                    <a:srgbClr val="E0E6EF"/>
                  </a:solidFill>
                  <a:latin typeface="Poppins Bold"/>
                  <a:ea typeface="Poppins Bold"/>
                  <a:cs typeface="Poppins Bold"/>
                  <a:sym typeface="Poppins Bold"/>
                </a:rPr>
                <a:t>Thiết kế Hệ thống</a:t>
              </a:r>
            </a:p>
          </p:txBody>
        </p:sp>
        <p:sp>
          <p:nvSpPr>
            <p:cNvPr name="TextBox 5" id="5"/>
            <p:cNvSpPr txBox="true"/>
            <p:nvPr/>
          </p:nvSpPr>
          <p:spPr>
            <a:xfrm rot="0">
              <a:off x="0" y="3617198"/>
              <a:ext cx="11099800" cy="676275"/>
            </a:xfrm>
            <a:prstGeom prst="rect">
              <a:avLst/>
            </a:prstGeom>
          </p:spPr>
          <p:txBody>
            <a:bodyPr anchor="t" rtlCol="false" tIns="0" lIns="0" bIns="0" rIns="0">
              <a:spAutoFit/>
            </a:bodyPr>
            <a:lstStyle/>
            <a:p>
              <a:pPr algn="l" marL="0" indent="0" lvl="0">
                <a:lnSpc>
                  <a:spcPts val="4200"/>
                </a:lnSpc>
                <a:spcBef>
                  <a:spcPct val="0"/>
                </a:spcBef>
              </a:pPr>
              <a:r>
                <a:rPr lang="en-US" b="true" sz="3000">
                  <a:solidFill>
                    <a:srgbClr val="E0E6EF"/>
                  </a:solidFill>
                  <a:latin typeface="Proxima Nova Bold"/>
                  <a:ea typeface="Proxima Nova Bold"/>
                  <a:cs typeface="Proxima Nova Bold"/>
                  <a:sym typeface="Proxima Nova Bold"/>
                </a:rPr>
                <a:t>Mô hình và sơ đồ UML chi tiết</a:t>
              </a:r>
            </a:p>
          </p:txBody>
        </p:sp>
      </p:grpSp>
      <p:grpSp>
        <p:nvGrpSpPr>
          <p:cNvPr name="Group 6" id="6"/>
          <p:cNvGrpSpPr/>
          <p:nvPr/>
        </p:nvGrpSpPr>
        <p:grpSpPr>
          <a:xfrm rot="0">
            <a:off x="10734675" y="666777"/>
            <a:ext cx="5448300" cy="1865708"/>
            <a:chOff x="0" y="0"/>
            <a:chExt cx="7264400" cy="2487611"/>
          </a:xfrm>
        </p:grpSpPr>
        <p:sp>
          <p:nvSpPr>
            <p:cNvPr name="TextBox 7" id="7"/>
            <p:cNvSpPr txBox="true"/>
            <p:nvPr/>
          </p:nvSpPr>
          <p:spPr>
            <a:xfrm rot="0">
              <a:off x="0" y="854391"/>
              <a:ext cx="7264400" cy="1633220"/>
            </a:xfrm>
            <a:prstGeom prst="rect">
              <a:avLst/>
            </a:prstGeom>
          </p:spPr>
          <p:txBody>
            <a:bodyPr anchor="t" rtlCol="false" tIns="0" lIns="0" bIns="0" rIns="0">
              <a:spAutoFit/>
            </a:bodyPr>
            <a:lstStyle/>
            <a:p>
              <a:pPr algn="l" marL="0" indent="0" lvl="0">
                <a:lnSpc>
                  <a:spcPts val="3359"/>
                </a:lnSpc>
              </a:pPr>
              <a:r>
                <a:rPr lang="en-US" sz="2400">
                  <a:solidFill>
                    <a:srgbClr val="E0E6EF"/>
                  </a:solidFill>
                  <a:latin typeface="Proxima Nova"/>
                  <a:ea typeface="Proxima Nova"/>
                  <a:cs typeface="Proxima Nova"/>
                  <a:sym typeface="Proxima Nova"/>
                </a:rPr>
                <a:t>Hệ thống bao gồm hai tác nhân chính: User và System, mỗi tác nhân có vai trò cụ thể.</a:t>
              </a:r>
            </a:p>
          </p:txBody>
        </p:sp>
        <p:sp>
          <p:nvSpPr>
            <p:cNvPr name="TextBox 8" id="8"/>
            <p:cNvSpPr txBox="true"/>
            <p:nvPr/>
          </p:nvSpPr>
          <p:spPr>
            <a:xfrm rot="0">
              <a:off x="0" y="-66675"/>
              <a:ext cx="7264400" cy="676275"/>
            </a:xfrm>
            <a:prstGeom prst="rect">
              <a:avLst/>
            </a:prstGeom>
          </p:spPr>
          <p:txBody>
            <a:bodyPr anchor="t" rtlCol="false" tIns="0" lIns="0" bIns="0" rIns="0">
              <a:spAutoFit/>
            </a:bodyPr>
            <a:lstStyle/>
            <a:p>
              <a:pPr algn="l" marL="0" indent="0" lvl="0">
                <a:lnSpc>
                  <a:spcPts val="4200"/>
                </a:lnSpc>
                <a:spcBef>
                  <a:spcPct val="0"/>
                </a:spcBef>
              </a:pPr>
              <a:r>
                <a:rPr lang="en-US" b="true" sz="3000">
                  <a:solidFill>
                    <a:srgbClr val="E0E6EF"/>
                  </a:solidFill>
                  <a:latin typeface="Proxima Nova Bold"/>
                  <a:ea typeface="Proxima Nova Bold"/>
                  <a:cs typeface="Proxima Nova Bold"/>
                  <a:sym typeface="Proxima Nova Bold"/>
                </a:rPr>
                <a:t>Tác nhân chính</a:t>
              </a:r>
            </a:p>
          </p:txBody>
        </p:sp>
      </p:grpSp>
      <p:grpSp>
        <p:nvGrpSpPr>
          <p:cNvPr name="Group 9" id="9"/>
          <p:cNvGrpSpPr/>
          <p:nvPr/>
        </p:nvGrpSpPr>
        <p:grpSpPr>
          <a:xfrm rot="0">
            <a:off x="10734675" y="3800502"/>
            <a:ext cx="5448300" cy="1865708"/>
            <a:chOff x="0" y="0"/>
            <a:chExt cx="7264400" cy="2487611"/>
          </a:xfrm>
        </p:grpSpPr>
        <p:sp>
          <p:nvSpPr>
            <p:cNvPr name="TextBox 10" id="10"/>
            <p:cNvSpPr txBox="true"/>
            <p:nvPr/>
          </p:nvSpPr>
          <p:spPr>
            <a:xfrm rot="0">
              <a:off x="0" y="854391"/>
              <a:ext cx="7264400" cy="1633220"/>
            </a:xfrm>
            <a:prstGeom prst="rect">
              <a:avLst/>
            </a:prstGeom>
          </p:spPr>
          <p:txBody>
            <a:bodyPr anchor="t" rtlCol="false" tIns="0" lIns="0" bIns="0" rIns="0">
              <a:spAutoFit/>
            </a:bodyPr>
            <a:lstStyle/>
            <a:p>
              <a:pPr algn="l" marL="0" indent="0" lvl="0">
                <a:lnSpc>
                  <a:spcPts val="3359"/>
                </a:lnSpc>
              </a:pPr>
              <a:r>
                <a:rPr lang="en-US" sz="2400">
                  <a:solidFill>
                    <a:srgbClr val="E0E6EF"/>
                  </a:solidFill>
                  <a:latin typeface="Proxima Nova"/>
                  <a:ea typeface="Proxima Nova"/>
                  <a:cs typeface="Proxima Nova"/>
                  <a:sym typeface="Proxima Nova"/>
                </a:rPr>
                <a:t>Sơ đồ Use Case mô tả các chức năng chính như đăng nhập, quản lý ví, và thống kê chi tiêu.</a:t>
              </a:r>
            </a:p>
          </p:txBody>
        </p:sp>
        <p:sp>
          <p:nvSpPr>
            <p:cNvPr name="TextBox 11" id="11"/>
            <p:cNvSpPr txBox="true"/>
            <p:nvPr/>
          </p:nvSpPr>
          <p:spPr>
            <a:xfrm rot="0">
              <a:off x="0" y="-66675"/>
              <a:ext cx="7264400" cy="676275"/>
            </a:xfrm>
            <a:prstGeom prst="rect">
              <a:avLst/>
            </a:prstGeom>
          </p:spPr>
          <p:txBody>
            <a:bodyPr anchor="t" rtlCol="false" tIns="0" lIns="0" bIns="0" rIns="0">
              <a:spAutoFit/>
            </a:bodyPr>
            <a:lstStyle/>
            <a:p>
              <a:pPr algn="l" marL="0" indent="0" lvl="0">
                <a:lnSpc>
                  <a:spcPts val="4200"/>
                </a:lnSpc>
                <a:spcBef>
                  <a:spcPct val="0"/>
                </a:spcBef>
              </a:pPr>
              <a:r>
                <a:rPr lang="en-US" b="true" sz="3000">
                  <a:solidFill>
                    <a:srgbClr val="E0E6EF"/>
                  </a:solidFill>
                  <a:latin typeface="Proxima Nova Bold"/>
                  <a:ea typeface="Proxima Nova Bold"/>
                  <a:cs typeface="Proxima Nova Bold"/>
                  <a:sym typeface="Proxima Nova Bold"/>
                </a:rPr>
                <a:t>Các chức năng chính</a:t>
              </a:r>
            </a:p>
          </p:txBody>
        </p:sp>
      </p:grpSp>
      <p:grpSp>
        <p:nvGrpSpPr>
          <p:cNvPr name="Group 12" id="12"/>
          <p:cNvGrpSpPr/>
          <p:nvPr/>
        </p:nvGrpSpPr>
        <p:grpSpPr>
          <a:xfrm rot="0">
            <a:off x="10734675" y="6934227"/>
            <a:ext cx="5448300" cy="1865708"/>
            <a:chOff x="0" y="0"/>
            <a:chExt cx="7264400" cy="2487611"/>
          </a:xfrm>
        </p:grpSpPr>
        <p:sp>
          <p:nvSpPr>
            <p:cNvPr name="TextBox 13" id="13"/>
            <p:cNvSpPr txBox="true"/>
            <p:nvPr/>
          </p:nvSpPr>
          <p:spPr>
            <a:xfrm rot="0">
              <a:off x="0" y="854391"/>
              <a:ext cx="7264400" cy="1633220"/>
            </a:xfrm>
            <a:prstGeom prst="rect">
              <a:avLst/>
            </a:prstGeom>
          </p:spPr>
          <p:txBody>
            <a:bodyPr anchor="t" rtlCol="false" tIns="0" lIns="0" bIns="0" rIns="0">
              <a:spAutoFit/>
            </a:bodyPr>
            <a:lstStyle/>
            <a:p>
              <a:pPr algn="l" marL="0" indent="0" lvl="0">
                <a:lnSpc>
                  <a:spcPts val="3359"/>
                </a:lnSpc>
              </a:pPr>
              <a:r>
                <a:rPr lang="en-US" sz="2400">
                  <a:solidFill>
                    <a:srgbClr val="E0E6EF"/>
                  </a:solidFill>
                  <a:latin typeface="Proxima Nova"/>
                  <a:ea typeface="Proxima Nova"/>
                  <a:cs typeface="Proxima Nova"/>
                  <a:sym typeface="Proxima Nova"/>
                </a:rPr>
                <a:t>Sơ đồ Lớp trình bày chi tiết các lớp model như User, Wallet, Transaction, và Expense để tổ chức dữ liệu.</a:t>
              </a:r>
            </a:p>
          </p:txBody>
        </p:sp>
        <p:sp>
          <p:nvSpPr>
            <p:cNvPr name="TextBox 14" id="14"/>
            <p:cNvSpPr txBox="true"/>
            <p:nvPr/>
          </p:nvSpPr>
          <p:spPr>
            <a:xfrm rot="0">
              <a:off x="0" y="-66675"/>
              <a:ext cx="7264400" cy="676275"/>
            </a:xfrm>
            <a:prstGeom prst="rect">
              <a:avLst/>
            </a:prstGeom>
          </p:spPr>
          <p:txBody>
            <a:bodyPr anchor="t" rtlCol="false" tIns="0" lIns="0" bIns="0" rIns="0">
              <a:spAutoFit/>
            </a:bodyPr>
            <a:lstStyle/>
            <a:p>
              <a:pPr algn="l" marL="0" indent="0" lvl="0">
                <a:lnSpc>
                  <a:spcPts val="4200"/>
                </a:lnSpc>
                <a:spcBef>
                  <a:spcPct val="0"/>
                </a:spcBef>
              </a:pPr>
              <a:r>
                <a:rPr lang="en-US" b="true" sz="3000">
                  <a:solidFill>
                    <a:srgbClr val="E0E6EF"/>
                  </a:solidFill>
                  <a:latin typeface="Proxima Nova Bold"/>
                  <a:ea typeface="Proxima Nova Bold"/>
                  <a:cs typeface="Proxima Nova Bold"/>
                  <a:sym typeface="Proxima Nova Bold"/>
                </a:rPr>
                <a:t>Các mô hình lớp</a:t>
              </a:r>
            </a:p>
          </p:txBody>
        </p:sp>
      </p:gr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27465A"/>
        </a:solidFill>
      </p:bgPr>
    </p:bg>
    <p:spTree>
      <p:nvGrpSpPr>
        <p:cNvPr id="1" name=""/>
        <p:cNvGrpSpPr/>
        <p:nvPr/>
      </p:nvGrpSpPr>
      <p:grpSpPr>
        <a:xfrm>
          <a:off x="0" y="0"/>
          <a:ext cx="0" cy="0"/>
          <a:chOff x="0" y="0"/>
          <a:chExt cx="0" cy="0"/>
        </a:xfrm>
      </p:grpSpPr>
      <p:grpSp>
        <p:nvGrpSpPr>
          <p:cNvPr name="Group 2" id="2"/>
          <p:cNvGrpSpPr/>
          <p:nvPr/>
        </p:nvGrpSpPr>
        <p:grpSpPr>
          <a:xfrm rot="0">
            <a:off x="1028700" y="2268284"/>
            <a:ext cx="4708874" cy="5372100"/>
            <a:chOff x="0" y="0"/>
            <a:chExt cx="1046191" cy="1193542"/>
          </a:xfrm>
        </p:grpSpPr>
        <p:sp>
          <p:nvSpPr>
            <p:cNvPr name="Freeform 3" id="3"/>
            <p:cNvSpPr/>
            <p:nvPr/>
          </p:nvSpPr>
          <p:spPr>
            <a:xfrm flipH="false" flipV="false" rot="0">
              <a:off x="0" y="0"/>
              <a:ext cx="1046191" cy="1193542"/>
            </a:xfrm>
            <a:custGeom>
              <a:avLst/>
              <a:gdLst/>
              <a:ahLst/>
              <a:cxnLst/>
              <a:rect r="r" b="b" t="t" l="l"/>
              <a:pathLst>
                <a:path h="1193542" w="1046191">
                  <a:moveTo>
                    <a:pt x="0" y="0"/>
                  </a:moveTo>
                  <a:lnTo>
                    <a:pt x="1046191" y="0"/>
                  </a:lnTo>
                  <a:lnTo>
                    <a:pt x="1046191" y="1193542"/>
                  </a:lnTo>
                  <a:lnTo>
                    <a:pt x="0" y="1193542"/>
                  </a:lnTo>
                  <a:close/>
                </a:path>
              </a:pathLst>
            </a:custGeom>
            <a:blipFill>
              <a:blip r:embed="rId2"/>
              <a:stretch>
                <a:fillRect l="0" t="-3040" r="0" b="-3040"/>
              </a:stretch>
            </a:blipFill>
          </p:spPr>
        </p:sp>
      </p:grpSp>
      <p:sp>
        <p:nvSpPr>
          <p:cNvPr name="Freeform 4" id="4"/>
          <p:cNvSpPr/>
          <p:nvPr/>
        </p:nvSpPr>
        <p:spPr>
          <a:xfrm flipH="false" flipV="false" rot="0">
            <a:off x="7393151" y="1869157"/>
            <a:ext cx="6757664" cy="5771226"/>
          </a:xfrm>
          <a:custGeom>
            <a:avLst/>
            <a:gdLst/>
            <a:ahLst/>
            <a:cxnLst/>
            <a:rect r="r" b="b" t="t" l="l"/>
            <a:pathLst>
              <a:path h="5771226" w="6757664">
                <a:moveTo>
                  <a:pt x="0" y="0"/>
                </a:moveTo>
                <a:lnTo>
                  <a:pt x="6757664" y="0"/>
                </a:lnTo>
                <a:lnTo>
                  <a:pt x="6757664" y="5771227"/>
                </a:lnTo>
                <a:lnTo>
                  <a:pt x="0" y="5771227"/>
                </a:lnTo>
                <a:lnTo>
                  <a:pt x="0" y="0"/>
                </a:lnTo>
                <a:close/>
              </a:path>
            </a:pathLst>
          </a:custGeom>
          <a:blipFill>
            <a:blip r:embed="rId3"/>
            <a:stretch>
              <a:fillRect l="0" t="0" r="0" b="0"/>
            </a:stretch>
          </a:blipFill>
        </p:spPr>
      </p:sp>
      <p:sp>
        <p:nvSpPr>
          <p:cNvPr name="TextBox 5" id="5"/>
          <p:cNvSpPr txBox="true"/>
          <p:nvPr/>
        </p:nvSpPr>
        <p:spPr>
          <a:xfrm rot="0">
            <a:off x="109922" y="229012"/>
            <a:ext cx="18739051" cy="1050925"/>
          </a:xfrm>
          <a:prstGeom prst="rect">
            <a:avLst/>
          </a:prstGeom>
        </p:spPr>
        <p:txBody>
          <a:bodyPr anchor="t" rtlCol="false" tIns="0" lIns="0" bIns="0" rIns="0">
            <a:spAutoFit/>
          </a:bodyPr>
          <a:lstStyle/>
          <a:p>
            <a:pPr algn="l" marL="0" indent="0" lvl="0">
              <a:lnSpc>
                <a:spcPts val="7699"/>
              </a:lnSpc>
            </a:pPr>
            <a:r>
              <a:rPr lang="en-US" b="true" sz="6999">
                <a:solidFill>
                  <a:srgbClr val="E0E6EF"/>
                </a:solidFill>
                <a:latin typeface="Poppins Bold"/>
                <a:ea typeface="Poppins Bold"/>
                <a:cs typeface="Poppins Bold"/>
                <a:sym typeface="Poppins Bold"/>
              </a:rPr>
              <a:t>Sơ đồ use-case và lớp của hệ thống</a:t>
            </a:r>
          </a:p>
        </p:txBody>
      </p:sp>
      <p:grpSp>
        <p:nvGrpSpPr>
          <p:cNvPr name="Group 6" id="6"/>
          <p:cNvGrpSpPr/>
          <p:nvPr/>
        </p:nvGrpSpPr>
        <p:grpSpPr>
          <a:xfrm rot="0">
            <a:off x="7740895" y="8420510"/>
            <a:ext cx="4010025" cy="1412367"/>
            <a:chOff x="0" y="0"/>
            <a:chExt cx="5346700" cy="1883156"/>
          </a:xfrm>
        </p:grpSpPr>
        <p:sp>
          <p:nvSpPr>
            <p:cNvPr name="TextBox 7" id="7"/>
            <p:cNvSpPr txBox="true"/>
            <p:nvPr/>
          </p:nvSpPr>
          <p:spPr>
            <a:xfrm rot="0">
              <a:off x="0" y="-9525"/>
              <a:ext cx="5346700" cy="619125"/>
            </a:xfrm>
            <a:prstGeom prst="rect">
              <a:avLst/>
            </a:prstGeom>
          </p:spPr>
          <p:txBody>
            <a:bodyPr anchor="t" rtlCol="false" tIns="0" lIns="0" bIns="0" rIns="0">
              <a:spAutoFit/>
            </a:bodyPr>
            <a:lstStyle/>
            <a:p>
              <a:pPr algn="l" marL="0" indent="0" lvl="0">
                <a:lnSpc>
                  <a:spcPts val="3600"/>
                </a:lnSpc>
                <a:spcBef>
                  <a:spcPct val="0"/>
                </a:spcBef>
              </a:pPr>
              <a:r>
                <a:rPr lang="en-US" b="true" sz="3000">
                  <a:solidFill>
                    <a:srgbClr val="E0E6EF"/>
                  </a:solidFill>
                  <a:latin typeface="Proxima Nova Bold"/>
                  <a:ea typeface="Proxima Nova Bold"/>
                  <a:cs typeface="Proxima Nova Bold"/>
                  <a:sym typeface="Proxima Nova Bold"/>
                </a:rPr>
                <a:t>Sơ đồ lớp</a:t>
              </a:r>
            </a:p>
          </p:txBody>
        </p:sp>
        <p:sp>
          <p:nvSpPr>
            <p:cNvPr name="TextBox 8" id="8"/>
            <p:cNvSpPr txBox="true"/>
            <p:nvPr/>
          </p:nvSpPr>
          <p:spPr>
            <a:xfrm rot="0">
              <a:off x="0" y="808736"/>
              <a:ext cx="5346700" cy="1074420"/>
            </a:xfrm>
            <a:prstGeom prst="rect">
              <a:avLst/>
            </a:prstGeom>
          </p:spPr>
          <p:txBody>
            <a:bodyPr anchor="t" rtlCol="false" tIns="0" lIns="0" bIns="0" rIns="0">
              <a:spAutoFit/>
            </a:bodyPr>
            <a:lstStyle/>
            <a:p>
              <a:pPr algn="l" marL="0" indent="0" lvl="0">
                <a:lnSpc>
                  <a:spcPts val="3359"/>
                </a:lnSpc>
                <a:spcBef>
                  <a:spcPct val="0"/>
                </a:spcBef>
              </a:pPr>
              <a:r>
                <a:rPr lang="en-US" sz="2400">
                  <a:solidFill>
                    <a:srgbClr val="E0E6EF"/>
                  </a:solidFill>
                  <a:latin typeface="Proxima Nova"/>
                  <a:ea typeface="Proxima Nova"/>
                  <a:cs typeface="Proxima Nova"/>
                  <a:sym typeface="Proxima Nova"/>
                </a:rPr>
                <a:t>Cấu trúc thành phần ứng dụng</a:t>
              </a:r>
            </a:p>
          </p:txBody>
        </p:sp>
      </p:grpSp>
      <p:grpSp>
        <p:nvGrpSpPr>
          <p:cNvPr name="Group 9" id="9"/>
          <p:cNvGrpSpPr/>
          <p:nvPr/>
        </p:nvGrpSpPr>
        <p:grpSpPr>
          <a:xfrm rot="0">
            <a:off x="1028700" y="8346567"/>
            <a:ext cx="4010025" cy="993267"/>
            <a:chOff x="0" y="0"/>
            <a:chExt cx="5346700" cy="1324356"/>
          </a:xfrm>
        </p:grpSpPr>
        <p:sp>
          <p:nvSpPr>
            <p:cNvPr name="TextBox 10" id="10"/>
            <p:cNvSpPr txBox="true"/>
            <p:nvPr/>
          </p:nvSpPr>
          <p:spPr>
            <a:xfrm rot="0">
              <a:off x="0" y="-9525"/>
              <a:ext cx="5346700" cy="619125"/>
            </a:xfrm>
            <a:prstGeom prst="rect">
              <a:avLst/>
            </a:prstGeom>
          </p:spPr>
          <p:txBody>
            <a:bodyPr anchor="t" rtlCol="false" tIns="0" lIns="0" bIns="0" rIns="0">
              <a:spAutoFit/>
            </a:bodyPr>
            <a:lstStyle/>
            <a:p>
              <a:pPr algn="l" marL="0" indent="0" lvl="0">
                <a:lnSpc>
                  <a:spcPts val="3600"/>
                </a:lnSpc>
                <a:spcBef>
                  <a:spcPct val="0"/>
                </a:spcBef>
              </a:pPr>
              <a:r>
                <a:rPr lang="en-US" b="true" sz="3000" strike="noStrike" u="none">
                  <a:solidFill>
                    <a:srgbClr val="E0E6EF"/>
                  </a:solidFill>
                  <a:latin typeface="Proxima Nova Bold"/>
                  <a:ea typeface="Proxima Nova Bold"/>
                  <a:cs typeface="Proxima Nova Bold"/>
                  <a:sym typeface="Proxima Nova Bold"/>
                </a:rPr>
                <a:t>Use Case</a:t>
              </a:r>
            </a:p>
          </p:txBody>
        </p:sp>
        <p:sp>
          <p:nvSpPr>
            <p:cNvPr name="TextBox 11" id="11"/>
            <p:cNvSpPr txBox="true"/>
            <p:nvPr/>
          </p:nvSpPr>
          <p:spPr>
            <a:xfrm rot="0">
              <a:off x="0" y="808736"/>
              <a:ext cx="5346700" cy="515620"/>
            </a:xfrm>
            <a:prstGeom prst="rect">
              <a:avLst/>
            </a:prstGeom>
          </p:spPr>
          <p:txBody>
            <a:bodyPr anchor="t" rtlCol="false" tIns="0" lIns="0" bIns="0" rIns="0">
              <a:spAutoFit/>
            </a:bodyPr>
            <a:lstStyle/>
            <a:p>
              <a:pPr algn="l" marL="0" indent="0" lvl="0">
                <a:lnSpc>
                  <a:spcPts val="3359"/>
                </a:lnSpc>
                <a:spcBef>
                  <a:spcPct val="0"/>
                </a:spcBef>
              </a:pPr>
              <a:r>
                <a:rPr lang="en-US" sz="2400">
                  <a:solidFill>
                    <a:srgbClr val="E0E6EF"/>
                  </a:solidFill>
                  <a:latin typeface="Proxima Nova"/>
                  <a:ea typeface="Proxima Nova"/>
                  <a:cs typeface="Proxima Nova"/>
                  <a:sym typeface="Proxima Nova"/>
                </a:rPr>
                <a:t>Chức năng cho người dùng</a:t>
              </a:r>
            </a:p>
          </p:txBody>
        </p:sp>
      </p:gr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1E2A38"/>
        </a:solidFill>
      </p:bgPr>
    </p:bg>
    <p:spTree>
      <p:nvGrpSpPr>
        <p:cNvPr id="1" name=""/>
        <p:cNvGrpSpPr/>
        <p:nvPr/>
      </p:nvGrpSpPr>
      <p:grpSpPr>
        <a:xfrm>
          <a:off x="0" y="0"/>
          <a:ext cx="0" cy="0"/>
          <a:chOff x="0" y="0"/>
          <a:chExt cx="0" cy="0"/>
        </a:xfrm>
      </p:grpSpPr>
      <p:sp>
        <p:nvSpPr>
          <p:cNvPr name="Freeform 2" id="2"/>
          <p:cNvSpPr/>
          <p:nvPr/>
        </p:nvSpPr>
        <p:spPr>
          <a:xfrm flipH="false" flipV="false" rot="0">
            <a:off x="1028700" y="3425678"/>
            <a:ext cx="6110467" cy="5616051"/>
          </a:xfrm>
          <a:custGeom>
            <a:avLst/>
            <a:gdLst/>
            <a:ahLst/>
            <a:cxnLst/>
            <a:rect r="r" b="b" t="t" l="l"/>
            <a:pathLst>
              <a:path h="5616051" w="6110467">
                <a:moveTo>
                  <a:pt x="0" y="0"/>
                </a:moveTo>
                <a:lnTo>
                  <a:pt x="6110467" y="0"/>
                </a:lnTo>
                <a:lnTo>
                  <a:pt x="6110467" y="5616052"/>
                </a:lnTo>
                <a:lnTo>
                  <a:pt x="0" y="5616052"/>
                </a:lnTo>
                <a:lnTo>
                  <a:pt x="0" y="0"/>
                </a:lnTo>
                <a:close/>
              </a:path>
            </a:pathLst>
          </a:custGeom>
          <a:blipFill>
            <a:blip r:embed="rId2"/>
            <a:stretch>
              <a:fillRect l="0" t="0" r="0" b="0"/>
            </a:stretch>
          </a:blipFill>
        </p:spPr>
      </p:sp>
      <p:sp>
        <p:nvSpPr>
          <p:cNvPr name="Freeform 3" id="3"/>
          <p:cNvSpPr/>
          <p:nvPr/>
        </p:nvSpPr>
        <p:spPr>
          <a:xfrm flipH="false" flipV="false" rot="0">
            <a:off x="8749327" y="3425678"/>
            <a:ext cx="4870624" cy="6321276"/>
          </a:xfrm>
          <a:custGeom>
            <a:avLst/>
            <a:gdLst/>
            <a:ahLst/>
            <a:cxnLst/>
            <a:rect r="r" b="b" t="t" l="l"/>
            <a:pathLst>
              <a:path h="6321276" w="4870624">
                <a:moveTo>
                  <a:pt x="0" y="0"/>
                </a:moveTo>
                <a:lnTo>
                  <a:pt x="4870624" y="0"/>
                </a:lnTo>
                <a:lnTo>
                  <a:pt x="4870624" y="6321276"/>
                </a:lnTo>
                <a:lnTo>
                  <a:pt x="0" y="6321276"/>
                </a:lnTo>
                <a:lnTo>
                  <a:pt x="0" y="0"/>
                </a:lnTo>
                <a:close/>
              </a:path>
            </a:pathLst>
          </a:custGeom>
          <a:blipFill>
            <a:blip r:embed="rId3"/>
            <a:stretch>
              <a:fillRect l="0" t="0" r="0" b="0"/>
            </a:stretch>
          </a:blipFill>
        </p:spPr>
      </p:sp>
      <p:grpSp>
        <p:nvGrpSpPr>
          <p:cNvPr name="Group 4" id="4"/>
          <p:cNvGrpSpPr/>
          <p:nvPr/>
        </p:nvGrpSpPr>
        <p:grpSpPr>
          <a:xfrm rot="0">
            <a:off x="666750" y="666750"/>
            <a:ext cx="14700763" cy="2092906"/>
            <a:chOff x="0" y="0"/>
            <a:chExt cx="19601017" cy="2790541"/>
          </a:xfrm>
        </p:grpSpPr>
        <p:sp>
          <p:nvSpPr>
            <p:cNvPr name="TextBox 5" id="5"/>
            <p:cNvSpPr txBox="true"/>
            <p:nvPr/>
          </p:nvSpPr>
          <p:spPr>
            <a:xfrm rot="0">
              <a:off x="0" y="-9525"/>
              <a:ext cx="19558317" cy="1228725"/>
            </a:xfrm>
            <a:prstGeom prst="rect">
              <a:avLst/>
            </a:prstGeom>
          </p:spPr>
          <p:txBody>
            <a:bodyPr anchor="t" rtlCol="false" tIns="0" lIns="0" bIns="0" rIns="0">
              <a:spAutoFit/>
            </a:bodyPr>
            <a:lstStyle/>
            <a:p>
              <a:pPr algn="l" marL="0" indent="0" lvl="0">
                <a:lnSpc>
                  <a:spcPts val="6600"/>
                </a:lnSpc>
              </a:pPr>
              <a:r>
                <a:rPr lang="en-US" b="true" sz="6000">
                  <a:solidFill>
                    <a:srgbClr val="E0E6EF"/>
                  </a:solidFill>
                  <a:latin typeface="Poppins Bold"/>
                  <a:ea typeface="Poppins Bold"/>
                  <a:cs typeface="Poppins Bold"/>
                  <a:sym typeface="Poppins Bold"/>
                </a:rPr>
                <a:t>Sơ đồ hoạt động và trạng thái</a:t>
              </a:r>
            </a:p>
          </p:txBody>
        </p:sp>
        <p:sp>
          <p:nvSpPr>
            <p:cNvPr name="TextBox 6" id="6"/>
            <p:cNvSpPr txBox="true"/>
            <p:nvPr/>
          </p:nvSpPr>
          <p:spPr>
            <a:xfrm rot="0">
              <a:off x="42700" y="1626586"/>
              <a:ext cx="19558317" cy="1163955"/>
            </a:xfrm>
            <a:prstGeom prst="rect">
              <a:avLst/>
            </a:prstGeom>
          </p:spPr>
          <p:txBody>
            <a:bodyPr anchor="t" rtlCol="false" tIns="0" lIns="0" bIns="0" rIns="0">
              <a:spAutoFit/>
            </a:bodyPr>
            <a:lstStyle/>
            <a:p>
              <a:pPr algn="l" marL="0" indent="0" lvl="0">
                <a:lnSpc>
                  <a:spcPts val="3600"/>
                </a:lnSpc>
                <a:spcBef>
                  <a:spcPct val="0"/>
                </a:spcBef>
              </a:pPr>
              <a:r>
                <a:rPr lang="en-US" sz="2400">
                  <a:solidFill>
                    <a:srgbClr val="E0E6EF"/>
                  </a:solidFill>
                  <a:latin typeface="Proxima Nova"/>
                  <a:ea typeface="Proxima Nova"/>
                  <a:cs typeface="Proxima Nova"/>
                  <a:sym typeface="Proxima Nova"/>
                </a:rPr>
                <a:t>Hình ảnh mô tả quy trình xử lý đăng nhập, tạo ví và ghi nhận giao dịch trong ứng dụng SmartWallet, giúp người dùng hiểu rõ hơn về cách thức hoạt động và tương tác với hệ thống.</a:t>
              </a:r>
            </a:p>
          </p:txBody>
        </p:sp>
      </p:gr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27465A"/>
        </a:solidFill>
      </p:bgPr>
    </p:bg>
    <p:spTree>
      <p:nvGrpSpPr>
        <p:cNvPr id="1" name=""/>
        <p:cNvGrpSpPr/>
        <p:nvPr/>
      </p:nvGrpSpPr>
      <p:grpSpPr>
        <a:xfrm>
          <a:off x="0" y="0"/>
          <a:ext cx="0" cy="0"/>
          <a:chOff x="0" y="0"/>
          <a:chExt cx="0" cy="0"/>
        </a:xfrm>
      </p:grpSpPr>
      <p:sp>
        <p:nvSpPr>
          <p:cNvPr name="Freeform 2" id="2"/>
          <p:cNvSpPr/>
          <p:nvPr/>
        </p:nvSpPr>
        <p:spPr>
          <a:xfrm flipH="false" flipV="false" rot="0">
            <a:off x="7471156" y="2749190"/>
            <a:ext cx="4743386" cy="6018593"/>
          </a:xfrm>
          <a:custGeom>
            <a:avLst/>
            <a:gdLst/>
            <a:ahLst/>
            <a:cxnLst/>
            <a:rect r="r" b="b" t="t" l="l"/>
            <a:pathLst>
              <a:path h="6018593" w="4743386">
                <a:moveTo>
                  <a:pt x="0" y="0"/>
                </a:moveTo>
                <a:lnTo>
                  <a:pt x="4743386" y="0"/>
                </a:lnTo>
                <a:lnTo>
                  <a:pt x="4743386" y="6018594"/>
                </a:lnTo>
                <a:lnTo>
                  <a:pt x="0" y="6018594"/>
                </a:lnTo>
                <a:lnTo>
                  <a:pt x="0" y="0"/>
                </a:lnTo>
                <a:close/>
              </a:path>
            </a:pathLst>
          </a:custGeom>
          <a:blipFill>
            <a:blip r:embed="rId2"/>
            <a:stretch>
              <a:fillRect l="0" t="0" r="0" b="0"/>
            </a:stretch>
          </a:blipFill>
        </p:spPr>
      </p:sp>
      <p:sp>
        <p:nvSpPr>
          <p:cNvPr name="Freeform 3" id="3"/>
          <p:cNvSpPr/>
          <p:nvPr/>
        </p:nvSpPr>
        <p:spPr>
          <a:xfrm flipH="false" flipV="false" rot="0">
            <a:off x="12436468" y="2736847"/>
            <a:ext cx="4822832" cy="6030937"/>
          </a:xfrm>
          <a:custGeom>
            <a:avLst/>
            <a:gdLst/>
            <a:ahLst/>
            <a:cxnLst/>
            <a:rect r="r" b="b" t="t" l="l"/>
            <a:pathLst>
              <a:path h="6030937" w="4822832">
                <a:moveTo>
                  <a:pt x="0" y="0"/>
                </a:moveTo>
                <a:lnTo>
                  <a:pt x="4822832" y="0"/>
                </a:lnTo>
                <a:lnTo>
                  <a:pt x="4822832" y="6030937"/>
                </a:lnTo>
                <a:lnTo>
                  <a:pt x="0" y="6030937"/>
                </a:lnTo>
                <a:lnTo>
                  <a:pt x="0" y="0"/>
                </a:lnTo>
                <a:close/>
              </a:path>
            </a:pathLst>
          </a:custGeom>
          <a:blipFill>
            <a:blip r:embed="rId3"/>
            <a:stretch>
              <a:fillRect l="0" t="0" r="0" b="0"/>
            </a:stretch>
          </a:blipFill>
        </p:spPr>
      </p:sp>
      <p:grpSp>
        <p:nvGrpSpPr>
          <p:cNvPr name="Group 4" id="4"/>
          <p:cNvGrpSpPr/>
          <p:nvPr/>
        </p:nvGrpSpPr>
        <p:grpSpPr>
          <a:xfrm rot="0">
            <a:off x="666750" y="666689"/>
            <a:ext cx="8324850" cy="3220105"/>
            <a:chOff x="0" y="0"/>
            <a:chExt cx="11099800" cy="4293473"/>
          </a:xfrm>
        </p:grpSpPr>
        <p:sp>
          <p:nvSpPr>
            <p:cNvPr name="TextBox 5" id="5"/>
            <p:cNvSpPr txBox="true"/>
            <p:nvPr/>
          </p:nvSpPr>
          <p:spPr>
            <a:xfrm rot="0">
              <a:off x="0" y="-9525"/>
              <a:ext cx="11099800" cy="3116792"/>
            </a:xfrm>
            <a:prstGeom prst="rect">
              <a:avLst/>
            </a:prstGeom>
          </p:spPr>
          <p:txBody>
            <a:bodyPr anchor="t" rtlCol="false" tIns="0" lIns="0" bIns="0" rIns="0">
              <a:spAutoFit/>
            </a:bodyPr>
            <a:lstStyle/>
            <a:p>
              <a:pPr algn="l" marL="0" indent="0" lvl="0">
                <a:lnSpc>
                  <a:spcPts val="8800"/>
                </a:lnSpc>
              </a:pPr>
              <a:r>
                <a:rPr lang="en-US" b="true" sz="8000">
                  <a:solidFill>
                    <a:srgbClr val="E0E6EF"/>
                  </a:solidFill>
                  <a:latin typeface="Poppins Bold"/>
                  <a:ea typeface="Poppins Bold"/>
                  <a:cs typeface="Poppins Bold"/>
                  <a:sym typeface="Poppins Bold"/>
                </a:rPr>
                <a:t>Công nghệ và Công cụ</a:t>
              </a:r>
            </a:p>
          </p:txBody>
        </p:sp>
        <p:sp>
          <p:nvSpPr>
            <p:cNvPr name="TextBox 6" id="6"/>
            <p:cNvSpPr txBox="true"/>
            <p:nvPr/>
          </p:nvSpPr>
          <p:spPr>
            <a:xfrm rot="0">
              <a:off x="0" y="3617198"/>
              <a:ext cx="11099800" cy="676275"/>
            </a:xfrm>
            <a:prstGeom prst="rect">
              <a:avLst/>
            </a:prstGeom>
          </p:spPr>
          <p:txBody>
            <a:bodyPr anchor="t" rtlCol="false" tIns="0" lIns="0" bIns="0" rIns="0">
              <a:spAutoFit/>
            </a:bodyPr>
            <a:lstStyle/>
            <a:p>
              <a:pPr algn="l" marL="0" indent="0" lvl="0">
                <a:lnSpc>
                  <a:spcPts val="4200"/>
                </a:lnSpc>
                <a:spcBef>
                  <a:spcPct val="0"/>
                </a:spcBef>
              </a:pPr>
              <a:r>
                <a:rPr lang="en-US" b="true" sz="3000">
                  <a:solidFill>
                    <a:srgbClr val="E0E6EF"/>
                  </a:solidFill>
                  <a:latin typeface="Proxima Nova Bold"/>
                  <a:ea typeface="Proxima Nova Bold"/>
                  <a:cs typeface="Proxima Nova Bold"/>
                  <a:sym typeface="Proxima Nova Bold"/>
                </a:rPr>
                <a:t>Các nền tảng và thư viện</a:t>
              </a:r>
            </a:p>
          </p:txBody>
        </p:sp>
      </p:grpSp>
      <p:grpSp>
        <p:nvGrpSpPr>
          <p:cNvPr name="Group 7" id="7"/>
          <p:cNvGrpSpPr/>
          <p:nvPr/>
        </p:nvGrpSpPr>
        <p:grpSpPr>
          <a:xfrm rot="0">
            <a:off x="666750" y="4440561"/>
            <a:ext cx="5448300" cy="1865708"/>
            <a:chOff x="0" y="0"/>
            <a:chExt cx="7264400" cy="2487611"/>
          </a:xfrm>
        </p:grpSpPr>
        <p:sp>
          <p:nvSpPr>
            <p:cNvPr name="TextBox 8" id="8"/>
            <p:cNvSpPr txBox="true"/>
            <p:nvPr/>
          </p:nvSpPr>
          <p:spPr>
            <a:xfrm rot="0">
              <a:off x="0" y="854391"/>
              <a:ext cx="7264400" cy="1633220"/>
            </a:xfrm>
            <a:prstGeom prst="rect">
              <a:avLst/>
            </a:prstGeom>
          </p:spPr>
          <p:txBody>
            <a:bodyPr anchor="t" rtlCol="false" tIns="0" lIns="0" bIns="0" rIns="0">
              <a:spAutoFit/>
            </a:bodyPr>
            <a:lstStyle/>
            <a:p>
              <a:pPr algn="l" marL="0" indent="0" lvl="0">
                <a:lnSpc>
                  <a:spcPts val="3359"/>
                </a:lnSpc>
              </a:pPr>
              <a:r>
                <a:rPr lang="en-US" sz="2400">
                  <a:solidFill>
                    <a:srgbClr val="E0E6EF"/>
                  </a:solidFill>
                  <a:latin typeface="Proxima Nova"/>
                  <a:ea typeface="Proxima Nova"/>
                  <a:cs typeface="Proxima Nova"/>
                  <a:sym typeface="Proxima Nova"/>
                </a:rPr>
                <a:t>Flutter 3.x cùng với ngôn ngữ Dart cho phép phát triển ứng dụng di động </a:t>
              </a:r>
              <a:r>
                <a:rPr lang="en-US" b="true" sz="2400">
                  <a:solidFill>
                    <a:srgbClr val="E0E6EF"/>
                  </a:solidFill>
                  <a:latin typeface="Proxima Nova Bold"/>
                  <a:ea typeface="Proxima Nova Bold"/>
                  <a:cs typeface="Proxima Nova Bold"/>
                  <a:sym typeface="Proxima Nova Bold"/>
                </a:rPr>
                <a:t>một cách nhanh chóng</a:t>
              </a:r>
              <a:r>
                <a:rPr lang="en-US" sz="2400">
                  <a:solidFill>
                    <a:srgbClr val="E0E6EF"/>
                  </a:solidFill>
                  <a:latin typeface="Proxima Nova"/>
                  <a:ea typeface="Proxima Nova"/>
                  <a:cs typeface="Proxima Nova"/>
                  <a:sym typeface="Proxima Nova"/>
                </a:rPr>
                <a:t> và hiệu quả.</a:t>
              </a:r>
            </a:p>
          </p:txBody>
        </p:sp>
        <p:sp>
          <p:nvSpPr>
            <p:cNvPr name="TextBox 9" id="9"/>
            <p:cNvSpPr txBox="true"/>
            <p:nvPr/>
          </p:nvSpPr>
          <p:spPr>
            <a:xfrm rot="0">
              <a:off x="0" y="-66675"/>
              <a:ext cx="7264400" cy="676275"/>
            </a:xfrm>
            <a:prstGeom prst="rect">
              <a:avLst/>
            </a:prstGeom>
          </p:spPr>
          <p:txBody>
            <a:bodyPr anchor="t" rtlCol="false" tIns="0" lIns="0" bIns="0" rIns="0">
              <a:spAutoFit/>
            </a:bodyPr>
            <a:lstStyle/>
            <a:p>
              <a:pPr algn="l" marL="0" indent="0" lvl="0">
                <a:lnSpc>
                  <a:spcPts val="4200"/>
                </a:lnSpc>
                <a:spcBef>
                  <a:spcPct val="0"/>
                </a:spcBef>
              </a:pPr>
              <a:r>
                <a:rPr lang="en-US" b="true" sz="3000">
                  <a:solidFill>
                    <a:srgbClr val="E0E6EF"/>
                  </a:solidFill>
                  <a:latin typeface="Proxima Nova Bold"/>
                  <a:ea typeface="Proxima Nova Bold"/>
                  <a:cs typeface="Proxima Nova Bold"/>
                  <a:sym typeface="Proxima Nova Bold"/>
                </a:rPr>
                <a:t>Flutter và Dart</a:t>
              </a:r>
            </a:p>
          </p:txBody>
        </p:sp>
      </p:grpSp>
      <p:grpSp>
        <p:nvGrpSpPr>
          <p:cNvPr name="Group 10" id="10"/>
          <p:cNvGrpSpPr/>
          <p:nvPr/>
        </p:nvGrpSpPr>
        <p:grpSpPr>
          <a:xfrm rot="0">
            <a:off x="666750" y="7143777"/>
            <a:ext cx="5448300" cy="1865708"/>
            <a:chOff x="0" y="0"/>
            <a:chExt cx="7264400" cy="2487611"/>
          </a:xfrm>
        </p:grpSpPr>
        <p:sp>
          <p:nvSpPr>
            <p:cNvPr name="TextBox 11" id="11"/>
            <p:cNvSpPr txBox="true"/>
            <p:nvPr/>
          </p:nvSpPr>
          <p:spPr>
            <a:xfrm rot="0">
              <a:off x="0" y="854391"/>
              <a:ext cx="7264400" cy="1633220"/>
            </a:xfrm>
            <a:prstGeom prst="rect">
              <a:avLst/>
            </a:prstGeom>
          </p:spPr>
          <p:txBody>
            <a:bodyPr anchor="t" rtlCol="false" tIns="0" lIns="0" bIns="0" rIns="0">
              <a:spAutoFit/>
            </a:bodyPr>
            <a:lstStyle/>
            <a:p>
              <a:pPr algn="l" marL="0" indent="0" lvl="0">
                <a:lnSpc>
                  <a:spcPts val="3359"/>
                </a:lnSpc>
              </a:pPr>
              <a:r>
                <a:rPr lang="en-US" sz="2400">
                  <a:solidFill>
                    <a:srgbClr val="E0E6EF"/>
                  </a:solidFill>
                  <a:latin typeface="Proxima Nova"/>
                  <a:ea typeface="Proxima Nova"/>
                  <a:cs typeface="Proxima Nova"/>
                  <a:sym typeface="Proxima Nova"/>
                </a:rPr>
                <a:t>Sử dụng thư viện Provider giúp quản lý trạng thái </a:t>
              </a:r>
              <a:r>
                <a:rPr lang="en-US" b="true" sz="2400">
                  <a:solidFill>
                    <a:srgbClr val="E0E6EF"/>
                  </a:solidFill>
                  <a:latin typeface="Proxima Nova Bold"/>
                  <a:ea typeface="Proxima Nova Bold"/>
                  <a:cs typeface="Proxima Nova Bold"/>
                  <a:sym typeface="Proxima Nova Bold"/>
                </a:rPr>
                <a:t>mượt mà và hiệu quả</a:t>
              </a:r>
              <a:r>
                <a:rPr lang="en-US" sz="2400">
                  <a:solidFill>
                    <a:srgbClr val="E0E6EF"/>
                  </a:solidFill>
                  <a:latin typeface="Proxima Nova"/>
                  <a:ea typeface="Proxima Nova"/>
                  <a:cs typeface="Proxima Nova"/>
                  <a:sym typeface="Proxima Nova"/>
                </a:rPr>
                <a:t>, tạo trải nghiệm người dùng tốt hơn.</a:t>
              </a:r>
            </a:p>
          </p:txBody>
        </p:sp>
        <p:sp>
          <p:nvSpPr>
            <p:cNvPr name="TextBox 12" id="12"/>
            <p:cNvSpPr txBox="true"/>
            <p:nvPr/>
          </p:nvSpPr>
          <p:spPr>
            <a:xfrm rot="0">
              <a:off x="0" y="-66675"/>
              <a:ext cx="7264400" cy="676275"/>
            </a:xfrm>
            <a:prstGeom prst="rect">
              <a:avLst/>
            </a:prstGeom>
          </p:spPr>
          <p:txBody>
            <a:bodyPr anchor="t" rtlCol="false" tIns="0" lIns="0" bIns="0" rIns="0">
              <a:spAutoFit/>
            </a:bodyPr>
            <a:lstStyle/>
            <a:p>
              <a:pPr algn="l" marL="0" indent="0" lvl="0">
                <a:lnSpc>
                  <a:spcPts val="4200"/>
                </a:lnSpc>
                <a:spcBef>
                  <a:spcPct val="0"/>
                </a:spcBef>
              </a:pPr>
              <a:r>
                <a:rPr lang="en-US" b="true" sz="3000">
                  <a:solidFill>
                    <a:srgbClr val="E0E6EF"/>
                  </a:solidFill>
                  <a:latin typeface="Proxima Nova Bold"/>
                  <a:ea typeface="Proxima Nova Bold"/>
                  <a:cs typeface="Proxima Nova Bold"/>
                  <a:sym typeface="Proxima Nova Bold"/>
                </a:rPr>
                <a:t>Quản lý trạng thái</a:t>
              </a:r>
            </a:p>
          </p:txBody>
        </p:sp>
      </p:gr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27465A"/>
        </a:solidFill>
      </p:bgPr>
    </p:bg>
    <p:spTree>
      <p:nvGrpSpPr>
        <p:cNvPr id="1" name=""/>
        <p:cNvGrpSpPr/>
        <p:nvPr/>
      </p:nvGrpSpPr>
      <p:grpSpPr>
        <a:xfrm>
          <a:off x="0" y="0"/>
          <a:ext cx="0" cy="0"/>
          <a:chOff x="0" y="0"/>
          <a:chExt cx="0" cy="0"/>
        </a:xfrm>
      </p:grpSpPr>
      <p:sp>
        <p:nvSpPr>
          <p:cNvPr name="Freeform 2" id="2"/>
          <p:cNvSpPr/>
          <p:nvPr/>
        </p:nvSpPr>
        <p:spPr>
          <a:xfrm flipH="false" flipV="false" rot="0">
            <a:off x="7498777" y="2397343"/>
            <a:ext cx="4790467" cy="6028884"/>
          </a:xfrm>
          <a:custGeom>
            <a:avLst/>
            <a:gdLst/>
            <a:ahLst/>
            <a:cxnLst/>
            <a:rect r="r" b="b" t="t" l="l"/>
            <a:pathLst>
              <a:path h="6028884" w="4790467">
                <a:moveTo>
                  <a:pt x="0" y="0"/>
                </a:moveTo>
                <a:lnTo>
                  <a:pt x="4790467" y="0"/>
                </a:lnTo>
                <a:lnTo>
                  <a:pt x="4790467" y="6028884"/>
                </a:lnTo>
                <a:lnTo>
                  <a:pt x="0" y="6028884"/>
                </a:lnTo>
                <a:lnTo>
                  <a:pt x="0" y="0"/>
                </a:lnTo>
                <a:close/>
              </a:path>
            </a:pathLst>
          </a:custGeom>
          <a:blipFill>
            <a:blip r:embed="rId2"/>
            <a:stretch>
              <a:fillRect l="0" t="0" r="0" b="0"/>
            </a:stretch>
          </a:blipFill>
        </p:spPr>
      </p:sp>
      <p:sp>
        <p:nvSpPr>
          <p:cNvPr name="Freeform 3" id="3"/>
          <p:cNvSpPr/>
          <p:nvPr/>
        </p:nvSpPr>
        <p:spPr>
          <a:xfrm flipH="false" flipV="false" rot="0">
            <a:off x="12691000" y="2397343"/>
            <a:ext cx="4814384" cy="6037084"/>
          </a:xfrm>
          <a:custGeom>
            <a:avLst/>
            <a:gdLst/>
            <a:ahLst/>
            <a:cxnLst/>
            <a:rect r="r" b="b" t="t" l="l"/>
            <a:pathLst>
              <a:path h="6037084" w="4814384">
                <a:moveTo>
                  <a:pt x="0" y="0"/>
                </a:moveTo>
                <a:lnTo>
                  <a:pt x="4814384" y="0"/>
                </a:lnTo>
                <a:lnTo>
                  <a:pt x="4814384" y="6037084"/>
                </a:lnTo>
                <a:lnTo>
                  <a:pt x="0" y="6037084"/>
                </a:lnTo>
                <a:lnTo>
                  <a:pt x="0" y="0"/>
                </a:lnTo>
                <a:close/>
              </a:path>
            </a:pathLst>
          </a:custGeom>
          <a:blipFill>
            <a:blip r:embed="rId3"/>
            <a:stretch>
              <a:fillRect l="0" t="0" r="0" b="0"/>
            </a:stretch>
          </a:blipFill>
        </p:spPr>
      </p:sp>
      <p:grpSp>
        <p:nvGrpSpPr>
          <p:cNvPr name="Group 4" id="4"/>
          <p:cNvGrpSpPr/>
          <p:nvPr/>
        </p:nvGrpSpPr>
        <p:grpSpPr>
          <a:xfrm rot="0">
            <a:off x="666750" y="6514780"/>
            <a:ext cx="5448300" cy="1469024"/>
            <a:chOff x="0" y="0"/>
            <a:chExt cx="7264400" cy="1958698"/>
          </a:xfrm>
        </p:grpSpPr>
        <p:sp>
          <p:nvSpPr>
            <p:cNvPr name="TextBox 5" id="5"/>
            <p:cNvSpPr txBox="true"/>
            <p:nvPr/>
          </p:nvSpPr>
          <p:spPr>
            <a:xfrm rot="0">
              <a:off x="0" y="884278"/>
              <a:ext cx="7264400" cy="1074420"/>
            </a:xfrm>
            <a:prstGeom prst="rect">
              <a:avLst/>
            </a:prstGeom>
          </p:spPr>
          <p:txBody>
            <a:bodyPr anchor="t" rtlCol="false" tIns="0" lIns="0" bIns="0" rIns="0">
              <a:spAutoFit/>
            </a:bodyPr>
            <a:lstStyle/>
            <a:p>
              <a:pPr algn="l" marL="0" indent="0" lvl="0">
                <a:lnSpc>
                  <a:spcPts val="3359"/>
                </a:lnSpc>
                <a:spcBef>
                  <a:spcPct val="0"/>
                </a:spcBef>
              </a:pPr>
              <a:r>
                <a:rPr lang="en-US" sz="2400">
                  <a:solidFill>
                    <a:srgbClr val="E0E6EF"/>
                  </a:solidFill>
                  <a:latin typeface="Proxima Nova"/>
                  <a:ea typeface="Proxima Nova"/>
                  <a:cs typeface="Proxima Nova"/>
                  <a:sym typeface="Proxima Nova"/>
                </a:rPr>
                <a:t>Tuân thủ Material Design 3, đơn giản và nhất quán.</a:t>
              </a:r>
            </a:p>
          </p:txBody>
        </p:sp>
        <p:sp>
          <p:nvSpPr>
            <p:cNvPr name="TextBox 6" id="6"/>
            <p:cNvSpPr txBox="true"/>
            <p:nvPr/>
          </p:nvSpPr>
          <p:spPr>
            <a:xfrm rot="0">
              <a:off x="0" y="-66675"/>
              <a:ext cx="7264400" cy="676275"/>
            </a:xfrm>
            <a:prstGeom prst="rect">
              <a:avLst/>
            </a:prstGeom>
          </p:spPr>
          <p:txBody>
            <a:bodyPr anchor="t" rtlCol="false" tIns="0" lIns="0" bIns="0" rIns="0">
              <a:spAutoFit/>
            </a:bodyPr>
            <a:lstStyle/>
            <a:p>
              <a:pPr algn="l" marL="0" indent="0" lvl="0">
                <a:lnSpc>
                  <a:spcPts val="4200"/>
                </a:lnSpc>
                <a:spcBef>
                  <a:spcPct val="0"/>
                </a:spcBef>
              </a:pPr>
              <a:r>
                <a:rPr lang="en-US" b="true" sz="3000">
                  <a:solidFill>
                    <a:srgbClr val="E0E6EF"/>
                  </a:solidFill>
                  <a:latin typeface="Proxima Nova Bold"/>
                  <a:ea typeface="Proxima Nova Bold"/>
                  <a:cs typeface="Proxima Nova Bold"/>
                  <a:sym typeface="Proxima Nova Bold"/>
                </a:rPr>
                <a:t>Nguyên tắc thiết kế</a:t>
              </a:r>
            </a:p>
          </p:txBody>
        </p:sp>
      </p:grpSp>
      <p:sp>
        <p:nvSpPr>
          <p:cNvPr name="TextBox 7" id="7"/>
          <p:cNvSpPr txBox="true"/>
          <p:nvPr/>
        </p:nvSpPr>
        <p:spPr>
          <a:xfrm rot="0">
            <a:off x="666750" y="666750"/>
            <a:ext cx="13664055" cy="987425"/>
          </a:xfrm>
          <a:prstGeom prst="rect">
            <a:avLst/>
          </a:prstGeom>
        </p:spPr>
        <p:txBody>
          <a:bodyPr anchor="t" rtlCol="false" tIns="0" lIns="0" bIns="0" rIns="0">
            <a:spAutoFit/>
          </a:bodyPr>
          <a:lstStyle/>
          <a:p>
            <a:pPr algn="l" marL="0" indent="0" lvl="0">
              <a:lnSpc>
                <a:spcPts val="7150"/>
              </a:lnSpc>
            </a:pPr>
            <a:r>
              <a:rPr lang="en-US" b="true" sz="6500">
                <a:solidFill>
                  <a:srgbClr val="E0E6EF"/>
                </a:solidFill>
                <a:latin typeface="Poppins Bold"/>
                <a:ea typeface="Poppins Bold"/>
                <a:cs typeface="Poppins Bold"/>
                <a:sym typeface="Poppins Bold"/>
              </a:rPr>
              <a:t>Cấu trúc và Nguyên tắc UI/UX</a:t>
            </a:r>
          </a:p>
        </p:txBody>
      </p:sp>
      <p:sp>
        <p:nvSpPr>
          <p:cNvPr name="TextBox 8" id="8"/>
          <p:cNvSpPr txBox="true"/>
          <p:nvPr/>
        </p:nvSpPr>
        <p:spPr>
          <a:xfrm rot="0">
            <a:off x="677860" y="2879273"/>
            <a:ext cx="5437190" cy="815340"/>
          </a:xfrm>
          <a:prstGeom prst="rect">
            <a:avLst/>
          </a:prstGeom>
        </p:spPr>
        <p:txBody>
          <a:bodyPr anchor="t" rtlCol="false" tIns="0" lIns="0" bIns="0" rIns="0">
            <a:spAutoFit/>
          </a:bodyPr>
          <a:lstStyle/>
          <a:p>
            <a:pPr algn="l" marL="0" indent="0" lvl="0">
              <a:lnSpc>
                <a:spcPts val="3359"/>
              </a:lnSpc>
              <a:spcBef>
                <a:spcPct val="0"/>
              </a:spcBef>
            </a:pPr>
            <a:r>
              <a:rPr lang="en-US" sz="2400">
                <a:solidFill>
                  <a:srgbClr val="E0E6EF"/>
                </a:solidFill>
                <a:latin typeface="Proxima Nova"/>
                <a:ea typeface="Proxima Nova"/>
                <a:cs typeface="Proxima Nova"/>
                <a:sym typeface="Proxima Nova"/>
              </a:rPr>
              <a:t>Dựa trên Feature-based kết hợp Clean Architecture.</a:t>
            </a:r>
          </a:p>
        </p:txBody>
      </p:sp>
      <p:sp>
        <p:nvSpPr>
          <p:cNvPr name="TextBox 9" id="9"/>
          <p:cNvSpPr txBox="true"/>
          <p:nvPr/>
        </p:nvSpPr>
        <p:spPr>
          <a:xfrm rot="0">
            <a:off x="677860" y="2236522"/>
            <a:ext cx="5437190" cy="523875"/>
          </a:xfrm>
          <a:prstGeom prst="rect">
            <a:avLst/>
          </a:prstGeom>
        </p:spPr>
        <p:txBody>
          <a:bodyPr anchor="t" rtlCol="false" tIns="0" lIns="0" bIns="0" rIns="0">
            <a:spAutoFit/>
          </a:bodyPr>
          <a:lstStyle/>
          <a:p>
            <a:pPr algn="l" marL="0" indent="0" lvl="0">
              <a:lnSpc>
                <a:spcPts val="4200"/>
              </a:lnSpc>
              <a:spcBef>
                <a:spcPct val="0"/>
              </a:spcBef>
            </a:pPr>
            <a:r>
              <a:rPr lang="en-US" b="true" sz="3000">
                <a:solidFill>
                  <a:srgbClr val="E0E6EF"/>
                </a:solidFill>
                <a:latin typeface="Proxima Nova Bold"/>
                <a:ea typeface="Proxima Nova Bold"/>
                <a:cs typeface="Proxima Nova Bold"/>
                <a:sym typeface="Proxima Nova Bold"/>
              </a:rPr>
              <a:t>Cấu trúc thư mục</a:t>
            </a:r>
          </a:p>
        </p:txBody>
      </p:sp>
      <p:sp>
        <p:nvSpPr>
          <p:cNvPr name="TextBox 10" id="10"/>
          <p:cNvSpPr txBox="true"/>
          <p:nvPr/>
        </p:nvSpPr>
        <p:spPr>
          <a:xfrm rot="0">
            <a:off x="677860" y="4985065"/>
            <a:ext cx="5448300" cy="815340"/>
          </a:xfrm>
          <a:prstGeom prst="rect">
            <a:avLst/>
          </a:prstGeom>
        </p:spPr>
        <p:txBody>
          <a:bodyPr anchor="t" rtlCol="false" tIns="0" lIns="0" bIns="0" rIns="0">
            <a:spAutoFit/>
          </a:bodyPr>
          <a:lstStyle/>
          <a:p>
            <a:pPr algn="l" marL="0" indent="0" lvl="0">
              <a:lnSpc>
                <a:spcPts val="3359"/>
              </a:lnSpc>
              <a:spcBef>
                <a:spcPct val="0"/>
              </a:spcBef>
            </a:pPr>
            <a:r>
              <a:rPr lang="en-US" sz="2400">
                <a:solidFill>
                  <a:srgbClr val="E0E6EF"/>
                </a:solidFill>
                <a:latin typeface="Proxima Nova"/>
                <a:ea typeface="Proxima Nova"/>
                <a:cs typeface="Proxima Nova"/>
                <a:sym typeface="Proxima Nova"/>
              </a:rPr>
              <a:t>Gồm Presentation Layer, Business Logic Layer và Data Layer.</a:t>
            </a:r>
          </a:p>
        </p:txBody>
      </p:sp>
      <p:sp>
        <p:nvSpPr>
          <p:cNvPr name="TextBox 11" id="11"/>
          <p:cNvSpPr txBox="true"/>
          <p:nvPr/>
        </p:nvSpPr>
        <p:spPr>
          <a:xfrm rot="0">
            <a:off x="688970" y="4342313"/>
            <a:ext cx="5437190" cy="523875"/>
          </a:xfrm>
          <a:prstGeom prst="rect">
            <a:avLst/>
          </a:prstGeom>
        </p:spPr>
        <p:txBody>
          <a:bodyPr anchor="t" rtlCol="false" tIns="0" lIns="0" bIns="0" rIns="0">
            <a:spAutoFit/>
          </a:bodyPr>
          <a:lstStyle/>
          <a:p>
            <a:pPr algn="l" marL="0" indent="0" lvl="0">
              <a:lnSpc>
                <a:spcPts val="4200"/>
              </a:lnSpc>
              <a:spcBef>
                <a:spcPct val="0"/>
              </a:spcBef>
            </a:pPr>
            <a:r>
              <a:rPr lang="en-US" b="true" sz="3000">
                <a:solidFill>
                  <a:srgbClr val="E0E6EF"/>
                </a:solidFill>
                <a:latin typeface="Proxima Nova Bold"/>
                <a:ea typeface="Proxima Nova Bold"/>
                <a:cs typeface="Proxima Nova Bold"/>
                <a:sym typeface="Proxima Nova Bold"/>
              </a:rPr>
              <a:t>Kiến trúc 3 lớp</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1E2A38"/>
        </a:solidFill>
      </p:bgPr>
    </p:bg>
    <p:spTree>
      <p:nvGrpSpPr>
        <p:cNvPr id="1" name=""/>
        <p:cNvGrpSpPr/>
        <p:nvPr/>
      </p:nvGrpSpPr>
      <p:grpSpPr>
        <a:xfrm>
          <a:off x="0" y="0"/>
          <a:ext cx="0" cy="0"/>
          <a:chOff x="0" y="0"/>
          <a:chExt cx="0" cy="0"/>
        </a:xfrm>
      </p:grpSpPr>
      <p:grpSp>
        <p:nvGrpSpPr>
          <p:cNvPr name="Group 2" id="2"/>
          <p:cNvGrpSpPr/>
          <p:nvPr/>
        </p:nvGrpSpPr>
        <p:grpSpPr>
          <a:xfrm rot="0">
            <a:off x="9296400" y="666750"/>
            <a:ext cx="4010025" cy="5372100"/>
            <a:chOff x="0" y="0"/>
            <a:chExt cx="890924" cy="1193542"/>
          </a:xfrm>
        </p:grpSpPr>
        <p:sp>
          <p:nvSpPr>
            <p:cNvPr name="Freeform 3" id="3"/>
            <p:cNvSpPr/>
            <p:nvPr/>
          </p:nvSpPr>
          <p:spPr>
            <a:xfrm flipH="false" flipV="false" rot="0">
              <a:off x="0" y="0"/>
              <a:ext cx="890924" cy="1193542"/>
            </a:xfrm>
            <a:custGeom>
              <a:avLst/>
              <a:gdLst/>
              <a:ahLst/>
              <a:cxnLst/>
              <a:rect r="r" b="b" t="t" l="l"/>
              <a:pathLst>
                <a:path h="1193542" w="890924">
                  <a:moveTo>
                    <a:pt x="0" y="0"/>
                  </a:moveTo>
                  <a:lnTo>
                    <a:pt x="890924" y="0"/>
                  </a:lnTo>
                  <a:lnTo>
                    <a:pt x="890924" y="1193542"/>
                  </a:lnTo>
                  <a:lnTo>
                    <a:pt x="0" y="1193542"/>
                  </a:lnTo>
                  <a:close/>
                </a:path>
              </a:pathLst>
            </a:custGeom>
            <a:blipFill>
              <a:blip r:embed="rId2"/>
              <a:stretch>
                <a:fillRect l="-3224" t="0" r="-3224" b="0"/>
              </a:stretch>
            </a:blipFill>
          </p:spPr>
        </p:sp>
      </p:grpSp>
      <p:grpSp>
        <p:nvGrpSpPr>
          <p:cNvPr name="Group 4" id="4"/>
          <p:cNvGrpSpPr/>
          <p:nvPr/>
        </p:nvGrpSpPr>
        <p:grpSpPr>
          <a:xfrm rot="0">
            <a:off x="13611225" y="666750"/>
            <a:ext cx="4010025" cy="5372100"/>
            <a:chOff x="0" y="0"/>
            <a:chExt cx="475262" cy="636693"/>
          </a:xfrm>
        </p:grpSpPr>
        <p:sp>
          <p:nvSpPr>
            <p:cNvPr name="Freeform 5" id="5"/>
            <p:cNvSpPr/>
            <p:nvPr/>
          </p:nvSpPr>
          <p:spPr>
            <a:xfrm flipH="false" flipV="false" rot="0">
              <a:off x="0" y="0"/>
              <a:ext cx="475262" cy="636693"/>
            </a:xfrm>
            <a:custGeom>
              <a:avLst/>
              <a:gdLst/>
              <a:ahLst/>
              <a:cxnLst/>
              <a:rect r="r" b="b" t="t" l="l"/>
              <a:pathLst>
                <a:path h="636693" w="475262">
                  <a:moveTo>
                    <a:pt x="0" y="0"/>
                  </a:moveTo>
                  <a:lnTo>
                    <a:pt x="475262" y="0"/>
                  </a:lnTo>
                  <a:lnTo>
                    <a:pt x="475262" y="636693"/>
                  </a:lnTo>
                  <a:lnTo>
                    <a:pt x="0" y="636693"/>
                  </a:lnTo>
                  <a:close/>
                </a:path>
              </a:pathLst>
            </a:custGeom>
            <a:blipFill>
              <a:blip r:embed="rId3"/>
              <a:stretch>
                <a:fillRect l="-3458" t="0" r="-3458" b="0"/>
              </a:stretch>
            </a:blipFill>
          </p:spPr>
        </p:sp>
      </p:grpSp>
      <p:sp>
        <p:nvSpPr>
          <p:cNvPr name="TextBox 6" id="6"/>
          <p:cNvSpPr txBox="true"/>
          <p:nvPr/>
        </p:nvSpPr>
        <p:spPr>
          <a:xfrm rot="0">
            <a:off x="666750" y="657225"/>
            <a:ext cx="6886575" cy="3454400"/>
          </a:xfrm>
          <a:prstGeom prst="rect">
            <a:avLst/>
          </a:prstGeom>
        </p:spPr>
        <p:txBody>
          <a:bodyPr anchor="t" rtlCol="false" tIns="0" lIns="0" bIns="0" rIns="0">
            <a:spAutoFit/>
          </a:bodyPr>
          <a:lstStyle/>
          <a:p>
            <a:pPr algn="l" marL="0" indent="0" lvl="0">
              <a:lnSpc>
                <a:spcPts val="8800"/>
              </a:lnSpc>
            </a:pPr>
            <a:r>
              <a:rPr lang="en-US" b="true" sz="8000">
                <a:solidFill>
                  <a:srgbClr val="E0E6EF"/>
                </a:solidFill>
                <a:latin typeface="Poppins Bold"/>
                <a:ea typeface="Poppins Bold"/>
                <a:cs typeface="Poppins Bold"/>
                <a:sym typeface="Poppins Bold"/>
              </a:rPr>
              <a:t>Giao diện ứng dụng SmartWallet</a:t>
            </a:r>
          </a:p>
        </p:txBody>
      </p:sp>
      <p:grpSp>
        <p:nvGrpSpPr>
          <p:cNvPr name="Group 7" id="7"/>
          <p:cNvGrpSpPr/>
          <p:nvPr/>
        </p:nvGrpSpPr>
        <p:grpSpPr>
          <a:xfrm rot="0">
            <a:off x="13611225" y="6934200"/>
            <a:ext cx="4010025" cy="1412367"/>
            <a:chOff x="0" y="0"/>
            <a:chExt cx="5346700" cy="1883156"/>
          </a:xfrm>
        </p:grpSpPr>
        <p:sp>
          <p:nvSpPr>
            <p:cNvPr name="TextBox 8" id="8"/>
            <p:cNvSpPr txBox="true"/>
            <p:nvPr/>
          </p:nvSpPr>
          <p:spPr>
            <a:xfrm rot="0">
              <a:off x="0" y="-9525"/>
              <a:ext cx="5346700" cy="619125"/>
            </a:xfrm>
            <a:prstGeom prst="rect">
              <a:avLst/>
            </a:prstGeom>
          </p:spPr>
          <p:txBody>
            <a:bodyPr anchor="t" rtlCol="false" tIns="0" lIns="0" bIns="0" rIns="0">
              <a:spAutoFit/>
            </a:bodyPr>
            <a:lstStyle/>
            <a:p>
              <a:pPr algn="l" marL="0" indent="0" lvl="0">
                <a:lnSpc>
                  <a:spcPts val="3600"/>
                </a:lnSpc>
                <a:spcBef>
                  <a:spcPct val="0"/>
                </a:spcBef>
              </a:pPr>
              <a:r>
                <a:rPr lang="en-US" b="true" sz="3000" strike="noStrike" u="none">
                  <a:solidFill>
                    <a:srgbClr val="E0E6EF"/>
                  </a:solidFill>
                  <a:latin typeface="Proxima Nova Bold"/>
                  <a:ea typeface="Proxima Nova Bold"/>
                  <a:cs typeface="Proxima Nova Bold"/>
                  <a:sym typeface="Proxima Nova Bold"/>
                </a:rPr>
                <a:t>Màn hình đăng nhập</a:t>
              </a:r>
            </a:p>
          </p:txBody>
        </p:sp>
        <p:sp>
          <p:nvSpPr>
            <p:cNvPr name="TextBox 9" id="9"/>
            <p:cNvSpPr txBox="true"/>
            <p:nvPr/>
          </p:nvSpPr>
          <p:spPr>
            <a:xfrm rot="0">
              <a:off x="0" y="808736"/>
              <a:ext cx="5346700" cy="1074420"/>
            </a:xfrm>
            <a:prstGeom prst="rect">
              <a:avLst/>
            </a:prstGeom>
          </p:spPr>
          <p:txBody>
            <a:bodyPr anchor="t" rtlCol="false" tIns="0" lIns="0" bIns="0" rIns="0">
              <a:spAutoFit/>
            </a:bodyPr>
            <a:lstStyle/>
            <a:p>
              <a:pPr algn="l" marL="0" indent="0" lvl="0">
                <a:lnSpc>
                  <a:spcPts val="3359"/>
                </a:lnSpc>
                <a:spcBef>
                  <a:spcPct val="0"/>
                </a:spcBef>
              </a:pPr>
              <a:r>
                <a:rPr lang="en-US" sz="2400">
                  <a:solidFill>
                    <a:srgbClr val="E0E6EF"/>
                  </a:solidFill>
                  <a:latin typeface="Proxima Nova"/>
                  <a:ea typeface="Proxima Nova"/>
                  <a:cs typeface="Proxima Nova"/>
                  <a:sym typeface="Proxima Nova"/>
                </a:rPr>
                <a:t>Đơn giản và dễ dàng truy cập ứng dụng</a:t>
              </a:r>
            </a:p>
          </p:txBody>
        </p:sp>
      </p:grpSp>
      <p:grpSp>
        <p:nvGrpSpPr>
          <p:cNvPr name="Group 10" id="10"/>
          <p:cNvGrpSpPr/>
          <p:nvPr/>
        </p:nvGrpSpPr>
        <p:grpSpPr>
          <a:xfrm rot="0">
            <a:off x="9296400" y="6934200"/>
            <a:ext cx="4010025" cy="1412367"/>
            <a:chOff x="0" y="0"/>
            <a:chExt cx="5346700" cy="1883156"/>
          </a:xfrm>
        </p:grpSpPr>
        <p:sp>
          <p:nvSpPr>
            <p:cNvPr name="TextBox 11" id="11"/>
            <p:cNvSpPr txBox="true"/>
            <p:nvPr/>
          </p:nvSpPr>
          <p:spPr>
            <a:xfrm rot="0">
              <a:off x="0" y="-9525"/>
              <a:ext cx="5346700" cy="619125"/>
            </a:xfrm>
            <a:prstGeom prst="rect">
              <a:avLst/>
            </a:prstGeom>
          </p:spPr>
          <p:txBody>
            <a:bodyPr anchor="t" rtlCol="false" tIns="0" lIns="0" bIns="0" rIns="0">
              <a:spAutoFit/>
            </a:bodyPr>
            <a:lstStyle/>
            <a:p>
              <a:pPr algn="l" marL="0" indent="0" lvl="0">
                <a:lnSpc>
                  <a:spcPts val="3600"/>
                </a:lnSpc>
                <a:spcBef>
                  <a:spcPct val="0"/>
                </a:spcBef>
              </a:pPr>
              <a:r>
                <a:rPr lang="en-US" b="true" sz="3000" strike="noStrike" u="none">
                  <a:solidFill>
                    <a:srgbClr val="E0E6EF"/>
                  </a:solidFill>
                  <a:latin typeface="Proxima Nova Bold"/>
                  <a:ea typeface="Proxima Nova Bold"/>
                  <a:cs typeface="Proxima Nova Bold"/>
                  <a:sym typeface="Proxima Nova Bold"/>
                </a:rPr>
                <a:t>Màn hình chính</a:t>
              </a:r>
            </a:p>
          </p:txBody>
        </p:sp>
        <p:sp>
          <p:nvSpPr>
            <p:cNvPr name="TextBox 12" id="12"/>
            <p:cNvSpPr txBox="true"/>
            <p:nvPr/>
          </p:nvSpPr>
          <p:spPr>
            <a:xfrm rot="0">
              <a:off x="0" y="808736"/>
              <a:ext cx="5346700" cy="1074420"/>
            </a:xfrm>
            <a:prstGeom prst="rect">
              <a:avLst/>
            </a:prstGeom>
          </p:spPr>
          <p:txBody>
            <a:bodyPr anchor="t" rtlCol="false" tIns="0" lIns="0" bIns="0" rIns="0">
              <a:spAutoFit/>
            </a:bodyPr>
            <a:lstStyle/>
            <a:p>
              <a:pPr algn="l" marL="0" indent="0" lvl="0">
                <a:lnSpc>
                  <a:spcPts val="3359"/>
                </a:lnSpc>
                <a:spcBef>
                  <a:spcPct val="0"/>
                </a:spcBef>
              </a:pPr>
              <a:r>
                <a:rPr lang="en-US" sz="2400">
                  <a:solidFill>
                    <a:srgbClr val="E0E6EF"/>
                  </a:solidFill>
                  <a:latin typeface="Proxima Nova"/>
                  <a:ea typeface="Proxima Nova"/>
                  <a:cs typeface="Proxima Nova"/>
                  <a:sym typeface="Proxima Nova"/>
                </a:rPr>
                <a:t>Quản lý chi tiêu và giao dịch cá nhân</a:t>
              </a:r>
            </a:p>
          </p:txBody>
        </p:sp>
      </p:grpSp>
    </p:spTree>
  </p:cSld>
  <p:clrMapOvr>
    <a:masterClrMapping/>
  </p:clrMapOvr>
</p:sld>
</file>

<file path=ppt/slides/slide12.xml><?xml version="1.0" encoding="utf-8"?>
<p:sld xmlns:p="http://schemas.openxmlformats.org/presentationml/2006/main" xmlns:a="http://schemas.openxmlformats.org/drawingml/2006/main">
  <p:cSld>
    <p:bg>
      <p:bgPr>
        <a:solidFill>
          <a:srgbClr val="27465A"/>
        </a:solidFill>
      </p:bgPr>
    </p:bg>
    <p:spTree>
      <p:nvGrpSpPr>
        <p:cNvPr id="1" name=""/>
        <p:cNvGrpSpPr/>
        <p:nvPr/>
      </p:nvGrpSpPr>
      <p:grpSpPr>
        <a:xfrm>
          <a:off x="0" y="0"/>
          <a:ext cx="0" cy="0"/>
          <a:chOff x="0" y="0"/>
          <a:chExt cx="0" cy="0"/>
        </a:xfrm>
      </p:grpSpPr>
      <p:grpSp>
        <p:nvGrpSpPr>
          <p:cNvPr name="Group 2" id="2"/>
          <p:cNvGrpSpPr/>
          <p:nvPr/>
        </p:nvGrpSpPr>
        <p:grpSpPr>
          <a:xfrm rot="0">
            <a:off x="666750" y="666750"/>
            <a:ext cx="12639675" cy="2037074"/>
            <a:chOff x="0" y="0"/>
            <a:chExt cx="16852900" cy="2716099"/>
          </a:xfrm>
        </p:grpSpPr>
        <p:sp>
          <p:nvSpPr>
            <p:cNvPr name="TextBox 3" id="3"/>
            <p:cNvSpPr txBox="true"/>
            <p:nvPr/>
          </p:nvSpPr>
          <p:spPr>
            <a:xfrm rot="0">
              <a:off x="0" y="-9525"/>
              <a:ext cx="16852900" cy="1630892"/>
            </a:xfrm>
            <a:prstGeom prst="rect">
              <a:avLst/>
            </a:prstGeom>
          </p:spPr>
          <p:txBody>
            <a:bodyPr anchor="t" rtlCol="false" tIns="0" lIns="0" bIns="0" rIns="0">
              <a:spAutoFit/>
            </a:bodyPr>
            <a:lstStyle/>
            <a:p>
              <a:pPr algn="l" marL="0" indent="0" lvl="0">
                <a:lnSpc>
                  <a:spcPts val="8800"/>
                </a:lnSpc>
              </a:pPr>
              <a:r>
                <a:rPr lang="en-US" b="true" sz="8000">
                  <a:solidFill>
                    <a:srgbClr val="E0E6EF"/>
                  </a:solidFill>
                  <a:latin typeface="Poppins Bold"/>
                  <a:ea typeface="Poppins Bold"/>
                  <a:cs typeface="Poppins Bold"/>
                  <a:sym typeface="Poppins Bold"/>
                </a:rPr>
                <a:t>Kiểm thử và Đánh giá</a:t>
              </a:r>
            </a:p>
          </p:txBody>
        </p:sp>
        <p:sp>
          <p:nvSpPr>
            <p:cNvPr name="TextBox 4" id="4"/>
            <p:cNvSpPr txBox="true"/>
            <p:nvPr/>
          </p:nvSpPr>
          <p:spPr>
            <a:xfrm rot="0">
              <a:off x="0" y="2039824"/>
              <a:ext cx="16852900" cy="676275"/>
            </a:xfrm>
            <a:prstGeom prst="rect">
              <a:avLst/>
            </a:prstGeom>
          </p:spPr>
          <p:txBody>
            <a:bodyPr anchor="t" rtlCol="false" tIns="0" lIns="0" bIns="0" rIns="0">
              <a:spAutoFit/>
            </a:bodyPr>
            <a:lstStyle/>
            <a:p>
              <a:pPr algn="l" marL="0" indent="0" lvl="0">
                <a:lnSpc>
                  <a:spcPts val="4200"/>
                </a:lnSpc>
                <a:spcBef>
                  <a:spcPct val="0"/>
                </a:spcBef>
              </a:pPr>
              <a:r>
                <a:rPr lang="en-US" b="true" sz="3000">
                  <a:solidFill>
                    <a:srgbClr val="E0E6EF"/>
                  </a:solidFill>
                  <a:latin typeface="Proxima Nova Bold"/>
                  <a:ea typeface="Proxima Nova Bold"/>
                  <a:cs typeface="Proxima Nova Bold"/>
                  <a:sym typeface="Proxima Nova Bold"/>
                </a:rPr>
                <a:t>Kết quả dự án</a:t>
              </a:r>
            </a:p>
          </p:txBody>
        </p:sp>
      </p:grpSp>
      <p:grpSp>
        <p:nvGrpSpPr>
          <p:cNvPr name="Group 5" id="5"/>
          <p:cNvGrpSpPr/>
          <p:nvPr/>
        </p:nvGrpSpPr>
        <p:grpSpPr>
          <a:xfrm rot="0">
            <a:off x="666750" y="3160754"/>
            <a:ext cx="6886575" cy="1982746"/>
            <a:chOff x="0" y="0"/>
            <a:chExt cx="9182100" cy="2643661"/>
          </a:xfrm>
        </p:grpSpPr>
        <p:sp>
          <p:nvSpPr>
            <p:cNvPr name="TextBox 6" id="6"/>
            <p:cNvSpPr txBox="true"/>
            <p:nvPr/>
          </p:nvSpPr>
          <p:spPr>
            <a:xfrm rot="0">
              <a:off x="0" y="1010441"/>
              <a:ext cx="9182100" cy="1633220"/>
            </a:xfrm>
            <a:prstGeom prst="rect">
              <a:avLst/>
            </a:prstGeom>
          </p:spPr>
          <p:txBody>
            <a:bodyPr anchor="t" rtlCol="false" tIns="0" lIns="0" bIns="0" rIns="0">
              <a:spAutoFit/>
            </a:bodyPr>
            <a:lstStyle/>
            <a:p>
              <a:pPr algn="l" marL="0" indent="0" lvl="0">
                <a:lnSpc>
                  <a:spcPts val="3359"/>
                </a:lnSpc>
                <a:spcBef>
                  <a:spcPct val="0"/>
                </a:spcBef>
              </a:pPr>
              <a:r>
                <a:rPr lang="en-US" sz="2400">
                  <a:solidFill>
                    <a:srgbClr val="E0E6EF"/>
                  </a:solidFill>
                  <a:latin typeface="Proxima Nova"/>
                  <a:ea typeface="Proxima Nova"/>
                  <a:cs typeface="Proxima Nova"/>
                  <a:sym typeface="Proxima Nova"/>
                </a:rPr>
                <a:t>Chiến lược kiểm thử áp dụng Kim tự tháp Kiểm thử, với Unit Tests chiếm 70%, đảm bảo độ tin cậy của tính năng chính và giảm thiểu lỗi.</a:t>
              </a:r>
            </a:p>
          </p:txBody>
        </p:sp>
        <p:sp>
          <p:nvSpPr>
            <p:cNvPr name="TextBox 7" id="7"/>
            <p:cNvSpPr txBox="true"/>
            <p:nvPr/>
          </p:nvSpPr>
          <p:spPr>
            <a:xfrm rot="0">
              <a:off x="0" y="-66675"/>
              <a:ext cx="9182100" cy="676275"/>
            </a:xfrm>
            <a:prstGeom prst="rect">
              <a:avLst/>
            </a:prstGeom>
          </p:spPr>
          <p:txBody>
            <a:bodyPr anchor="t" rtlCol="false" tIns="0" lIns="0" bIns="0" rIns="0">
              <a:spAutoFit/>
            </a:bodyPr>
            <a:lstStyle/>
            <a:p>
              <a:pPr algn="l" marL="0" indent="0" lvl="0">
                <a:lnSpc>
                  <a:spcPts val="4200"/>
                </a:lnSpc>
                <a:spcBef>
                  <a:spcPct val="0"/>
                </a:spcBef>
              </a:pPr>
              <a:r>
                <a:rPr lang="en-US" b="true" sz="3000">
                  <a:solidFill>
                    <a:srgbClr val="E0E6EF"/>
                  </a:solidFill>
                  <a:latin typeface="Proxima Nova Bold"/>
                  <a:ea typeface="Proxima Nova Bold"/>
                  <a:cs typeface="Proxima Nova Bold"/>
                  <a:sym typeface="Proxima Nova Bold"/>
                </a:rPr>
                <a:t>Chiến lược kiểm thử</a:t>
              </a:r>
            </a:p>
          </p:txBody>
        </p:sp>
      </p:grpSp>
      <p:grpSp>
        <p:nvGrpSpPr>
          <p:cNvPr name="Group 8" id="8"/>
          <p:cNvGrpSpPr/>
          <p:nvPr/>
        </p:nvGrpSpPr>
        <p:grpSpPr>
          <a:xfrm rot="0">
            <a:off x="9144000" y="3160754"/>
            <a:ext cx="6886575" cy="1982746"/>
            <a:chOff x="0" y="0"/>
            <a:chExt cx="9182100" cy="2643661"/>
          </a:xfrm>
        </p:grpSpPr>
        <p:sp>
          <p:nvSpPr>
            <p:cNvPr name="TextBox 9" id="9"/>
            <p:cNvSpPr txBox="true"/>
            <p:nvPr/>
          </p:nvSpPr>
          <p:spPr>
            <a:xfrm rot="0">
              <a:off x="0" y="1010441"/>
              <a:ext cx="9182100" cy="1633220"/>
            </a:xfrm>
            <a:prstGeom prst="rect">
              <a:avLst/>
            </a:prstGeom>
          </p:spPr>
          <p:txBody>
            <a:bodyPr anchor="t" rtlCol="false" tIns="0" lIns="0" bIns="0" rIns="0">
              <a:spAutoFit/>
            </a:bodyPr>
            <a:lstStyle/>
            <a:p>
              <a:pPr algn="l" marL="0" indent="0" lvl="0">
                <a:lnSpc>
                  <a:spcPts val="3359"/>
                </a:lnSpc>
                <a:spcBef>
                  <a:spcPct val="0"/>
                </a:spcBef>
              </a:pPr>
              <a:r>
                <a:rPr lang="en-US" sz="2400">
                  <a:solidFill>
                    <a:srgbClr val="E0E6EF"/>
                  </a:solidFill>
                  <a:latin typeface="Proxima Nova"/>
                  <a:ea typeface="Proxima Nova"/>
                  <a:cs typeface="Proxima Nova"/>
                  <a:sym typeface="Proxima Nova"/>
                </a:rPr>
                <a:t>Dự án đạt 100% tính năng cốt lõi, 95% giao diện và demo tốt bằng mock data, thể hiện sự hiệu quả trong thiết kế UI và kiến trúc ứng dụng.</a:t>
              </a:r>
            </a:p>
          </p:txBody>
        </p:sp>
        <p:sp>
          <p:nvSpPr>
            <p:cNvPr name="TextBox 10" id="10"/>
            <p:cNvSpPr txBox="true"/>
            <p:nvPr/>
          </p:nvSpPr>
          <p:spPr>
            <a:xfrm rot="0">
              <a:off x="0" y="-66675"/>
              <a:ext cx="9182100" cy="676275"/>
            </a:xfrm>
            <a:prstGeom prst="rect">
              <a:avLst/>
            </a:prstGeom>
          </p:spPr>
          <p:txBody>
            <a:bodyPr anchor="t" rtlCol="false" tIns="0" lIns="0" bIns="0" rIns="0">
              <a:spAutoFit/>
            </a:bodyPr>
            <a:lstStyle/>
            <a:p>
              <a:pPr algn="l" marL="0" indent="0" lvl="0">
                <a:lnSpc>
                  <a:spcPts val="4200"/>
                </a:lnSpc>
                <a:spcBef>
                  <a:spcPct val="0"/>
                </a:spcBef>
              </a:pPr>
              <a:r>
                <a:rPr lang="en-US" b="true" sz="3000">
                  <a:solidFill>
                    <a:srgbClr val="E0E6EF"/>
                  </a:solidFill>
                  <a:latin typeface="Proxima Nova Bold"/>
                  <a:ea typeface="Proxima Nova Bold"/>
                  <a:cs typeface="Proxima Nova Bold"/>
                  <a:sym typeface="Proxima Nova Bold"/>
                </a:rPr>
                <a:t>Kết quả hoàn thành</a:t>
              </a:r>
            </a:p>
          </p:txBody>
        </p:sp>
      </p:gr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1E2A38"/>
        </a:solidFill>
      </p:bgPr>
    </p:bg>
    <p:spTree>
      <p:nvGrpSpPr>
        <p:cNvPr id="1" name=""/>
        <p:cNvGrpSpPr/>
        <p:nvPr/>
      </p:nvGrpSpPr>
      <p:grpSpPr>
        <a:xfrm>
          <a:off x="0" y="0"/>
          <a:ext cx="0" cy="0"/>
          <a:chOff x="0" y="0"/>
          <a:chExt cx="0" cy="0"/>
        </a:xfrm>
      </p:grpSpPr>
      <p:grpSp>
        <p:nvGrpSpPr>
          <p:cNvPr name="Group 2" id="2"/>
          <p:cNvGrpSpPr/>
          <p:nvPr/>
        </p:nvGrpSpPr>
        <p:grpSpPr>
          <a:xfrm rot="0">
            <a:off x="681785" y="8189492"/>
            <a:ext cx="2861515" cy="1430758"/>
            <a:chOff x="0" y="0"/>
            <a:chExt cx="3815353" cy="1907677"/>
          </a:xfrm>
        </p:grpSpPr>
        <p:grpSp>
          <p:nvGrpSpPr>
            <p:cNvPr name="Group 3" id="3"/>
            <p:cNvGrpSpPr/>
            <p:nvPr/>
          </p:nvGrpSpPr>
          <p:grpSpPr>
            <a:xfrm rot="0">
              <a:off x="0" y="0"/>
              <a:ext cx="1907677" cy="1907677"/>
              <a:chOff x="0" y="0"/>
              <a:chExt cx="812800" cy="812800"/>
            </a:xfrm>
          </p:grpSpPr>
          <p:sp>
            <p:nvSpPr>
              <p:cNvPr name="Freeform 4" id="4"/>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1E2A38"/>
              </a:solidFill>
            </p:spPr>
          </p:sp>
          <p:sp>
            <p:nvSpPr>
              <p:cNvPr name="TextBox 5" id="5"/>
              <p:cNvSpPr txBox="true"/>
              <p:nvPr/>
            </p:nvSpPr>
            <p:spPr>
              <a:xfrm>
                <a:off x="0" y="9525"/>
                <a:ext cx="812800" cy="803275"/>
              </a:xfrm>
              <a:prstGeom prst="rect">
                <a:avLst/>
              </a:prstGeom>
            </p:spPr>
            <p:txBody>
              <a:bodyPr anchor="ctr" rtlCol="false" tIns="50800" lIns="50800" bIns="50800" rIns="50800"/>
              <a:lstStyle/>
              <a:p>
                <a:pPr algn="ctr" marL="0" indent="0" lvl="0">
                  <a:lnSpc>
                    <a:spcPts val="2879"/>
                  </a:lnSpc>
                </a:pPr>
              </a:p>
            </p:txBody>
          </p:sp>
        </p:grpSp>
        <p:grpSp>
          <p:nvGrpSpPr>
            <p:cNvPr name="Group 6" id="6"/>
            <p:cNvGrpSpPr/>
            <p:nvPr/>
          </p:nvGrpSpPr>
          <p:grpSpPr>
            <a:xfrm rot="0">
              <a:off x="1907677" y="0"/>
              <a:ext cx="1907677" cy="1907677"/>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E2A38"/>
              </a:solidFill>
            </p:spPr>
          </p:sp>
          <p:sp>
            <p:nvSpPr>
              <p:cNvPr name="TextBox 8" id="8"/>
              <p:cNvSpPr txBox="true"/>
              <p:nvPr/>
            </p:nvSpPr>
            <p:spPr>
              <a:xfrm>
                <a:off x="76200" y="85725"/>
                <a:ext cx="660400" cy="650875"/>
              </a:xfrm>
              <a:prstGeom prst="rect">
                <a:avLst/>
              </a:prstGeom>
            </p:spPr>
            <p:txBody>
              <a:bodyPr anchor="ctr" rtlCol="false" tIns="50800" lIns="50800" bIns="50800" rIns="50800"/>
              <a:lstStyle/>
              <a:p>
                <a:pPr algn="ctr" marL="0" indent="0" lvl="0">
                  <a:lnSpc>
                    <a:spcPts val="2879"/>
                  </a:lnSpc>
                </a:pPr>
              </a:p>
            </p:txBody>
          </p:sp>
        </p:grpSp>
      </p:grpSp>
      <p:sp>
        <p:nvSpPr>
          <p:cNvPr name="Freeform 9" id="9"/>
          <p:cNvSpPr/>
          <p:nvPr/>
        </p:nvSpPr>
        <p:spPr>
          <a:xfrm flipH="false" flipV="false" rot="0">
            <a:off x="9268989" y="62801"/>
            <a:ext cx="4424041" cy="5530384"/>
          </a:xfrm>
          <a:custGeom>
            <a:avLst/>
            <a:gdLst/>
            <a:ahLst/>
            <a:cxnLst/>
            <a:rect r="r" b="b" t="t" l="l"/>
            <a:pathLst>
              <a:path h="5530384" w="4424041">
                <a:moveTo>
                  <a:pt x="0" y="0"/>
                </a:moveTo>
                <a:lnTo>
                  <a:pt x="4424040" y="0"/>
                </a:lnTo>
                <a:lnTo>
                  <a:pt x="4424040" y="5530384"/>
                </a:lnTo>
                <a:lnTo>
                  <a:pt x="0" y="5530384"/>
                </a:lnTo>
                <a:lnTo>
                  <a:pt x="0" y="0"/>
                </a:lnTo>
                <a:close/>
              </a:path>
            </a:pathLst>
          </a:custGeom>
          <a:blipFill>
            <a:blip r:embed="rId2"/>
            <a:stretch>
              <a:fillRect l="0" t="-12056" r="0" b="0"/>
            </a:stretch>
          </a:blipFill>
        </p:spPr>
      </p:sp>
      <p:sp>
        <p:nvSpPr>
          <p:cNvPr name="Freeform 10" id="10"/>
          <p:cNvSpPr/>
          <p:nvPr/>
        </p:nvSpPr>
        <p:spPr>
          <a:xfrm flipH="false" flipV="false" rot="0">
            <a:off x="13816854" y="3748602"/>
            <a:ext cx="4326122" cy="5509698"/>
          </a:xfrm>
          <a:custGeom>
            <a:avLst/>
            <a:gdLst/>
            <a:ahLst/>
            <a:cxnLst/>
            <a:rect r="r" b="b" t="t" l="l"/>
            <a:pathLst>
              <a:path h="5509698" w="4326122">
                <a:moveTo>
                  <a:pt x="0" y="0"/>
                </a:moveTo>
                <a:lnTo>
                  <a:pt x="4326123" y="0"/>
                </a:lnTo>
                <a:lnTo>
                  <a:pt x="4326123" y="5509698"/>
                </a:lnTo>
                <a:lnTo>
                  <a:pt x="0" y="5509698"/>
                </a:lnTo>
                <a:lnTo>
                  <a:pt x="0" y="0"/>
                </a:lnTo>
                <a:close/>
              </a:path>
            </a:pathLst>
          </a:custGeom>
          <a:blipFill>
            <a:blip r:embed="rId3"/>
            <a:stretch>
              <a:fillRect l="0" t="-12683" r="0" b="0"/>
            </a:stretch>
          </a:blipFill>
        </p:spPr>
      </p:sp>
      <p:grpSp>
        <p:nvGrpSpPr>
          <p:cNvPr name="Group 11" id="11"/>
          <p:cNvGrpSpPr/>
          <p:nvPr/>
        </p:nvGrpSpPr>
        <p:grpSpPr>
          <a:xfrm rot="0">
            <a:off x="100012" y="0"/>
            <a:ext cx="6886575" cy="2396802"/>
            <a:chOff x="0" y="0"/>
            <a:chExt cx="9182100" cy="3195736"/>
          </a:xfrm>
        </p:grpSpPr>
        <p:sp>
          <p:nvSpPr>
            <p:cNvPr name="TextBox 12" id="12"/>
            <p:cNvSpPr txBox="true"/>
            <p:nvPr/>
          </p:nvSpPr>
          <p:spPr>
            <a:xfrm rot="0">
              <a:off x="0" y="-9525"/>
              <a:ext cx="9182100" cy="1630892"/>
            </a:xfrm>
            <a:prstGeom prst="rect">
              <a:avLst/>
            </a:prstGeom>
          </p:spPr>
          <p:txBody>
            <a:bodyPr anchor="t" rtlCol="false" tIns="0" lIns="0" bIns="0" rIns="0">
              <a:spAutoFit/>
            </a:bodyPr>
            <a:lstStyle/>
            <a:p>
              <a:pPr algn="l" marL="0" indent="0" lvl="0">
                <a:lnSpc>
                  <a:spcPts val="8800"/>
                </a:lnSpc>
              </a:pPr>
              <a:r>
                <a:rPr lang="en-US" b="true" sz="8000">
                  <a:solidFill>
                    <a:srgbClr val="E0E6EF"/>
                  </a:solidFill>
                  <a:latin typeface="Poppins Bold"/>
                  <a:ea typeface="Poppins Bold"/>
                  <a:cs typeface="Poppins Bold"/>
                  <a:sym typeface="Poppins Bold"/>
                </a:rPr>
                <a:t>Kết luận</a:t>
              </a:r>
            </a:p>
          </p:txBody>
        </p:sp>
        <p:sp>
          <p:nvSpPr>
            <p:cNvPr name="TextBox 13" id="13"/>
            <p:cNvSpPr txBox="true"/>
            <p:nvPr/>
          </p:nvSpPr>
          <p:spPr>
            <a:xfrm rot="0">
              <a:off x="0" y="1887636"/>
              <a:ext cx="9182100" cy="1308100"/>
            </a:xfrm>
            <a:prstGeom prst="rect">
              <a:avLst/>
            </a:prstGeom>
          </p:spPr>
          <p:txBody>
            <a:bodyPr anchor="t" rtlCol="false" tIns="0" lIns="0" bIns="0" rIns="0">
              <a:spAutoFit/>
            </a:bodyPr>
            <a:lstStyle/>
            <a:p>
              <a:pPr algn="l" marL="0" indent="0" lvl="0">
                <a:lnSpc>
                  <a:spcPts val="3900"/>
                </a:lnSpc>
              </a:pPr>
              <a:r>
                <a:rPr lang="en-US" sz="3000">
                  <a:solidFill>
                    <a:srgbClr val="E0E6EF"/>
                  </a:solidFill>
                  <a:latin typeface="Proxima Nova"/>
                  <a:ea typeface="Proxima Nova"/>
                  <a:cs typeface="Proxima Nova"/>
                  <a:sym typeface="Proxima Nova"/>
                </a:rPr>
                <a:t>Tóm tắt dự án và đề xuất hướng phát triển tương lai</a:t>
              </a:r>
            </a:p>
          </p:txBody>
        </p:sp>
      </p:grpSp>
      <p:sp>
        <p:nvSpPr>
          <p:cNvPr name="TextBox 14" id="14"/>
          <p:cNvSpPr txBox="true"/>
          <p:nvPr/>
        </p:nvSpPr>
        <p:spPr>
          <a:xfrm rot="0">
            <a:off x="-276482" y="2878877"/>
            <a:ext cx="9420482" cy="5371465"/>
          </a:xfrm>
          <a:prstGeom prst="rect">
            <a:avLst/>
          </a:prstGeom>
        </p:spPr>
        <p:txBody>
          <a:bodyPr anchor="t" rtlCol="false" tIns="0" lIns="0" bIns="0" rIns="0">
            <a:spAutoFit/>
          </a:bodyPr>
          <a:lstStyle/>
          <a:p>
            <a:pPr algn="just">
              <a:lnSpc>
                <a:spcPts val="4759"/>
              </a:lnSpc>
            </a:pPr>
          </a:p>
          <a:p>
            <a:pPr algn="just" marL="734059" indent="-367030" lvl="1">
              <a:lnSpc>
                <a:spcPts val="4759"/>
              </a:lnSpc>
              <a:buFont typeface="Arial"/>
              <a:buChar char="•"/>
            </a:pPr>
            <a:r>
              <a:rPr lang="en-US" sz="3399">
                <a:solidFill>
                  <a:srgbClr val="E0E6EF"/>
                </a:solidFill>
                <a:latin typeface="Proxima Nova"/>
                <a:ea typeface="Proxima Nova"/>
                <a:cs typeface="Proxima Nova"/>
                <a:sym typeface="Proxima Nova"/>
              </a:rPr>
              <a:t>Hiện thực hóa đầy đủ các chức năng cốt lõi gồm:</a:t>
            </a:r>
          </a:p>
          <a:p>
            <a:pPr algn="just" marL="734059" indent="-367030" lvl="1">
              <a:lnSpc>
                <a:spcPts val="4759"/>
              </a:lnSpc>
              <a:buFont typeface="Arial"/>
              <a:buChar char="•"/>
            </a:pPr>
            <a:r>
              <a:rPr lang="en-US" sz="3399">
                <a:solidFill>
                  <a:srgbClr val="E0E6EF"/>
                </a:solidFill>
                <a:latin typeface="Proxima Nova"/>
                <a:ea typeface="Proxima Nova"/>
                <a:cs typeface="Proxima Nova"/>
                <a:sym typeface="Proxima Nova"/>
              </a:rPr>
              <a:t>Quản lý nhiều loại ví.</a:t>
            </a:r>
          </a:p>
          <a:p>
            <a:pPr algn="just" marL="734059" indent="-367030" lvl="1">
              <a:lnSpc>
                <a:spcPts val="4759"/>
              </a:lnSpc>
              <a:buFont typeface="Arial"/>
              <a:buChar char="•"/>
            </a:pPr>
            <a:r>
              <a:rPr lang="en-US" sz="3399">
                <a:solidFill>
                  <a:srgbClr val="E0E6EF"/>
                </a:solidFill>
                <a:latin typeface="Proxima Nova"/>
                <a:ea typeface="Proxima Nova"/>
                <a:cs typeface="Proxima Nova"/>
                <a:sym typeface="Proxima Nova"/>
              </a:rPr>
              <a:t>Ghi nhận thu chi theo danh mục.</a:t>
            </a:r>
          </a:p>
          <a:p>
            <a:pPr algn="just" marL="734059" indent="-367030" lvl="1">
              <a:lnSpc>
                <a:spcPts val="4759"/>
              </a:lnSpc>
              <a:buFont typeface="Arial"/>
              <a:buChar char="•"/>
            </a:pPr>
            <a:r>
              <a:rPr lang="en-US" sz="3399">
                <a:solidFill>
                  <a:srgbClr val="E0E6EF"/>
                </a:solidFill>
                <a:latin typeface="Proxima Nova"/>
                <a:ea typeface="Proxima Nova"/>
                <a:cs typeface="Proxima Nova"/>
                <a:sym typeface="Proxima Nova"/>
              </a:rPr>
              <a:t>Chuyển tiền nội bộ giữa các ví.</a:t>
            </a:r>
          </a:p>
          <a:p>
            <a:pPr algn="just" marL="734059" indent="-367030" lvl="1">
              <a:lnSpc>
                <a:spcPts val="4759"/>
              </a:lnSpc>
              <a:buFont typeface="Arial"/>
              <a:buChar char="•"/>
            </a:pPr>
            <a:r>
              <a:rPr lang="en-US" sz="3399">
                <a:solidFill>
                  <a:srgbClr val="E0E6EF"/>
                </a:solidFill>
                <a:latin typeface="Proxima Nova"/>
                <a:ea typeface="Proxima Nova"/>
                <a:cs typeface="Proxima Nova"/>
                <a:sym typeface="Proxima Nova"/>
              </a:rPr>
              <a:t>Xem lịch sử giao dịch qua lịch tương tác.</a:t>
            </a:r>
          </a:p>
          <a:p>
            <a:pPr algn="just" marL="734059" indent="-367030" lvl="1">
              <a:lnSpc>
                <a:spcPts val="4759"/>
              </a:lnSpc>
              <a:buFont typeface="Arial"/>
              <a:buChar char="•"/>
            </a:pPr>
            <a:r>
              <a:rPr lang="en-US" sz="3399">
                <a:solidFill>
                  <a:srgbClr val="E0E6EF"/>
                </a:solidFill>
                <a:latin typeface="Proxima Nova"/>
                <a:ea typeface="Proxima Nova"/>
                <a:cs typeface="Proxima Nova"/>
                <a:sym typeface="Proxima Nova"/>
              </a:rPr>
              <a:t>Phân tích dữ liệu bằng biểu đồ trực quan.</a:t>
            </a:r>
          </a:p>
          <a:p>
            <a:pPr algn="just">
              <a:lnSpc>
                <a:spcPts val="4759"/>
              </a:lnSpc>
            </a:p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description>Bài thuyết trình - Báo cáo Lập trình Di động</dc:description>
  <dc:identifier>DAG3tP59L1A</dc:identifier>
  <dcterms:modified xsi:type="dcterms:W3CDTF">2011-08-01T06:04:30Z</dcterms:modified>
  <cp:revision>1</cp:revision>
  <dc:title>Bài thuyết trình - Báo cáo Lập trình Di động</dc:title>
</cp:coreProperties>
</file>